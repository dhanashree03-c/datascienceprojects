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7920B6-8284-484A-B568-D43B9C918086}"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626728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7920B6-8284-484A-B568-D43B9C918086}"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3432034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7920B6-8284-484A-B568-D43B9C918086}"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1281571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7920B6-8284-484A-B568-D43B9C918086}" type="datetimeFigureOut">
              <a:rPr lang="en-IN" smtClean="0"/>
              <a:t>04-03-2026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2428414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7920B6-8284-484A-B568-D43B9C918086}" type="datetimeFigureOut">
              <a:rPr lang="en-IN" smtClean="0"/>
              <a:t>04-03-2026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4007204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7920B6-8284-484A-B568-D43B9C918086}" type="datetimeFigureOut">
              <a:rPr lang="en-IN" smtClean="0"/>
              <a:t>04-03-2026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403685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7920B6-8284-484A-B568-D43B9C918086}" type="datetimeFigureOut">
              <a:rPr lang="en-IN" smtClean="0"/>
              <a:t>04-03-2026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4107586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7920B6-8284-484A-B568-D43B9C918086}" type="datetimeFigureOut">
              <a:rPr lang="en-IN" smtClean="0"/>
              <a:t>04-03-2026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1110995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7920B6-8284-484A-B568-D43B9C918086}" type="datetimeFigureOut">
              <a:rPr lang="en-IN" smtClean="0"/>
              <a:t>04-03-2026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2427643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7920B6-8284-484A-B568-D43B9C918086}" type="datetimeFigureOut">
              <a:rPr lang="en-IN" smtClean="0"/>
              <a:t>04-03-2026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1001554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7920B6-8284-484A-B568-D43B9C918086}" type="datetimeFigureOut">
              <a:rPr lang="en-IN" smtClean="0"/>
              <a:t>04-03-2026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39721965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7920B6-8284-484A-B568-D43B9C918086}" type="datetimeFigureOut">
              <a:rPr lang="en-IN" smtClean="0"/>
              <a:t>04-03-2026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397D83-36A5-4992-AF56-697F810FD295}"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717982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7920B6-8284-484A-B568-D43B9C918086}" type="datetimeFigureOut">
              <a:rPr lang="en-IN" smtClean="0"/>
              <a:t>04-03-2026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42683304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7920B6-8284-484A-B568-D43B9C918086}" type="datetimeFigureOut">
              <a:rPr lang="en-IN" smtClean="0"/>
              <a:t>04-03-2026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4873998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7920B6-8284-484A-B568-D43B9C918086}" type="datetimeFigureOut">
              <a:rPr lang="en-IN" smtClean="0"/>
              <a:t>04-03-2026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4877223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7920B6-8284-484A-B568-D43B9C918086}"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38277769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7920B6-8284-484A-B568-D43B9C918086}"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2622362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7920B6-8284-484A-B568-D43B9C918086}" type="datetimeFigureOut">
              <a:rPr lang="en-IN" smtClean="0"/>
              <a:t>04-03-2026</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83397D83-36A5-4992-AF56-697F810FD295}" type="slidenum">
              <a:rPr lang="en-IN" smtClean="0"/>
              <a:t>‹#›</a:t>
            </a:fld>
            <a:endParaRPr lang="en-IN"/>
          </a:p>
        </p:txBody>
      </p:sp>
    </p:spTree>
    <p:extLst>
      <p:ext uri="{BB962C8B-B14F-4D97-AF65-F5344CB8AC3E}">
        <p14:creationId xmlns:p14="http://schemas.microsoft.com/office/powerpoint/2010/main" val="386866768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5D5A7-04FA-AC2E-EAE1-1195B78AF4A8}"/>
              </a:ext>
            </a:extLst>
          </p:cNvPr>
          <p:cNvSpPr>
            <a:spLocks noGrp="1"/>
          </p:cNvSpPr>
          <p:nvPr>
            <p:ph type="title"/>
          </p:nvPr>
        </p:nvSpPr>
        <p:spPr/>
        <p:txBody>
          <a:bodyPr/>
          <a:lstStyle/>
          <a:p>
            <a:pPr algn="l"/>
            <a:r>
              <a:rPr lang="en-IN" dirty="0">
                <a:latin typeface="Times New Roman" panose="02020603050405020304" pitchFamily="18" charset="0"/>
                <a:cs typeface="Times New Roman" panose="02020603050405020304" pitchFamily="18" charset="0"/>
              </a:rPr>
              <a:t>Capstone project real world business analysis</a:t>
            </a:r>
          </a:p>
        </p:txBody>
      </p:sp>
      <p:sp>
        <p:nvSpPr>
          <p:cNvPr id="3" name="Content Placeholder 2">
            <a:extLst>
              <a:ext uri="{FF2B5EF4-FFF2-40B4-BE49-F238E27FC236}">
                <a16:creationId xmlns:a16="http://schemas.microsoft.com/office/drawing/2014/main" id="{C7B9610B-7B44-8335-9232-7CC4B0680D9A}"/>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Customer Churn Analysis &amp; Retention Strategy</a:t>
            </a:r>
          </a:p>
          <a:p>
            <a:pPr marL="0" indent="0">
              <a:buNone/>
            </a:pPr>
            <a:r>
              <a:rPr lang="en-US" dirty="0">
                <a:latin typeface="Times New Roman" panose="02020603050405020304" pitchFamily="18" charset="0"/>
                <a:cs typeface="Times New Roman" panose="02020603050405020304" pitchFamily="18" charset="0"/>
              </a:rPr>
              <a:t>(Data-Driven Approach to Reduce Customer Attrition)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4549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613CB-F8F5-31F2-BE70-E9F2EDAD70C9}"/>
              </a:ext>
            </a:extLst>
          </p:cNvPr>
          <p:cNvSpPr>
            <a:spLocks noGrp="1"/>
          </p:cNvSpPr>
          <p:nvPr>
            <p:ph type="title"/>
          </p:nvPr>
        </p:nvSpPr>
        <p:spPr/>
        <p:txBody>
          <a:bodyPr/>
          <a:lstStyle/>
          <a:p>
            <a:pPr algn="l"/>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165ABE12-ED4B-7BA3-C48F-5D7C7D21809A}"/>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Customer churn is negatively impacting recurring revenue and increasing customer acquisition costs. The organization lacks a predictive system to identify high-risk customers before they leave. Current retention efforts are reactive, resulting in inefficient resource allocation. A proactive, data-driven churn prediction framework is essential to reduce attrition and safeguard long-term revenue.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0683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BE904-DDDD-ADAF-7C2A-A91356FC1CAA}"/>
              </a:ext>
            </a:extLst>
          </p:cNvPr>
          <p:cNvSpPr>
            <a:spLocks noGrp="1"/>
          </p:cNvSpPr>
          <p:nvPr>
            <p:ph type="title"/>
          </p:nvPr>
        </p:nvSpPr>
        <p:spPr/>
        <p:txBody>
          <a:bodyPr/>
          <a:lstStyle/>
          <a:p>
            <a:pPr algn="l"/>
            <a:r>
              <a:rPr lang="en-IN" dirty="0">
                <a:latin typeface="Times New Roman" panose="02020603050405020304" pitchFamily="18" charset="0"/>
                <a:cs typeface="Times New Roman" panose="02020603050405020304" pitchFamily="18" charset="0"/>
              </a:rPr>
              <a:t>Business impact</a:t>
            </a:r>
          </a:p>
        </p:txBody>
      </p:sp>
      <p:sp>
        <p:nvSpPr>
          <p:cNvPr id="3" name="Content Placeholder 2">
            <a:extLst>
              <a:ext uri="{FF2B5EF4-FFF2-40B4-BE49-F238E27FC236}">
                <a16:creationId xmlns:a16="http://schemas.microsoft.com/office/drawing/2014/main" id="{35C9B0D2-7876-8235-2055-36BCB33E5A94}"/>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Rising churn significantly increases Customer Acquisition Cost (CAC), reducing marketing efficiency.</a:t>
            </a:r>
          </a:p>
          <a:p>
            <a:r>
              <a:rPr lang="en-US" dirty="0">
                <a:latin typeface="Times New Roman" panose="02020603050405020304" pitchFamily="18" charset="0"/>
                <a:cs typeface="Times New Roman" panose="02020603050405020304" pitchFamily="18" charset="0"/>
              </a:rPr>
              <a:t>Loss of long-term customers results in recurring revenue erosion.</a:t>
            </a:r>
          </a:p>
          <a:p>
            <a:r>
              <a:rPr lang="en-US" dirty="0">
                <a:latin typeface="Times New Roman" panose="02020603050405020304" pitchFamily="18" charset="0"/>
                <a:cs typeface="Times New Roman" panose="02020603050405020304" pitchFamily="18" charset="0"/>
              </a:rPr>
              <a:t>Lower Customer Lifetime Value (CLV) impacts overall profitability.</a:t>
            </a:r>
          </a:p>
          <a:p>
            <a:r>
              <a:rPr lang="en-US" dirty="0">
                <a:latin typeface="Times New Roman" panose="02020603050405020304" pitchFamily="18" charset="0"/>
                <a:cs typeface="Times New Roman" panose="02020603050405020304" pitchFamily="18" charset="0"/>
              </a:rPr>
              <a:t>High churn creates instability in revenue forecasting and growth planning.</a:t>
            </a:r>
          </a:p>
        </p:txBody>
      </p:sp>
    </p:spTree>
    <p:extLst>
      <p:ext uri="{BB962C8B-B14F-4D97-AF65-F5344CB8AC3E}">
        <p14:creationId xmlns:p14="http://schemas.microsoft.com/office/powerpoint/2010/main" val="197266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89084-0CC7-6A44-FC0A-F74FFA63675C}"/>
              </a:ext>
            </a:extLst>
          </p:cNvPr>
          <p:cNvSpPr>
            <a:spLocks noGrp="1"/>
          </p:cNvSpPr>
          <p:nvPr>
            <p:ph type="title"/>
          </p:nvPr>
        </p:nvSpPr>
        <p:spPr/>
        <p:txBody>
          <a:bodyPr/>
          <a:lstStyle/>
          <a:p>
            <a:pPr algn="l"/>
            <a:r>
              <a:rPr lang="en-IN" dirty="0">
                <a:latin typeface="Times New Roman" panose="02020603050405020304" pitchFamily="18" charset="0"/>
                <a:cs typeface="Times New Roman" panose="02020603050405020304" pitchFamily="18" charset="0"/>
              </a:rPr>
              <a:t>Project objectives</a:t>
            </a:r>
          </a:p>
        </p:txBody>
      </p:sp>
      <p:sp>
        <p:nvSpPr>
          <p:cNvPr id="3" name="Content Placeholder 2">
            <a:extLst>
              <a:ext uri="{FF2B5EF4-FFF2-40B4-BE49-F238E27FC236}">
                <a16:creationId xmlns:a16="http://schemas.microsoft.com/office/drawing/2014/main" id="{BF8C7BBC-B7A0-E19E-8FDC-DA976D8776C1}"/>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To identify the key behavioral and financial drivers influencing customer churn.</a:t>
            </a:r>
          </a:p>
          <a:p>
            <a:r>
              <a:rPr lang="en-US" dirty="0">
                <a:latin typeface="Times New Roman" panose="02020603050405020304" pitchFamily="18" charset="0"/>
                <a:cs typeface="Times New Roman" panose="02020603050405020304" pitchFamily="18" charset="0"/>
              </a:rPr>
              <a:t>To develop a predictive churn model to estimate individual customer risk probability.</a:t>
            </a:r>
          </a:p>
          <a:p>
            <a:r>
              <a:rPr lang="en-US" dirty="0">
                <a:latin typeface="Times New Roman" panose="02020603050405020304" pitchFamily="18" charset="0"/>
                <a:cs typeface="Times New Roman" panose="02020603050405020304" pitchFamily="18" charset="0"/>
              </a:rPr>
              <a:t>To segment and prioritize high-risk customers for targeted intervention.</a:t>
            </a:r>
          </a:p>
          <a:p>
            <a:r>
              <a:rPr lang="en-US" dirty="0">
                <a:latin typeface="Times New Roman" panose="02020603050405020304" pitchFamily="18" charset="0"/>
                <a:cs typeface="Times New Roman" panose="02020603050405020304" pitchFamily="18" charset="0"/>
              </a:rPr>
              <a:t>To design actionable, data-driven retention strategies to reduce churn and protect revenue.</a:t>
            </a:r>
          </a:p>
        </p:txBody>
      </p:sp>
    </p:spTree>
    <p:extLst>
      <p:ext uri="{BB962C8B-B14F-4D97-AF65-F5344CB8AC3E}">
        <p14:creationId xmlns:p14="http://schemas.microsoft.com/office/powerpoint/2010/main" val="2642312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80829-837D-7720-9148-9F9DDEC59CE2}"/>
              </a:ext>
            </a:extLst>
          </p:cNvPr>
          <p:cNvSpPr>
            <a:spLocks noGrp="1"/>
          </p:cNvSpPr>
          <p:nvPr>
            <p:ph type="title"/>
          </p:nvPr>
        </p:nvSpPr>
        <p:spPr/>
        <p:txBody>
          <a:bodyPr/>
          <a:lstStyle/>
          <a:p>
            <a:pPr algn="l"/>
            <a:r>
              <a:rPr lang="en-IN" dirty="0">
                <a:latin typeface="Times New Roman" panose="02020603050405020304" pitchFamily="18" charset="0"/>
                <a:cs typeface="Times New Roman" panose="02020603050405020304" pitchFamily="18" charset="0"/>
              </a:rPr>
              <a:t>Dataset overview</a:t>
            </a:r>
          </a:p>
        </p:txBody>
      </p:sp>
      <p:sp>
        <p:nvSpPr>
          <p:cNvPr id="3" name="Content Placeholder 2">
            <a:extLst>
              <a:ext uri="{FF2B5EF4-FFF2-40B4-BE49-F238E27FC236}">
                <a16:creationId xmlns:a16="http://schemas.microsoft.com/office/drawing/2014/main" id="{015BC180-B9BC-7A56-4154-E6117DD2BAC9}"/>
              </a:ext>
            </a:extLst>
          </p:cNvPr>
          <p:cNvSpPr>
            <a:spLocks noGrp="1"/>
          </p:cNvSpPr>
          <p:nvPr>
            <p:ph idx="1"/>
          </p:nvPr>
        </p:nvSpPr>
        <p:spPr>
          <a:xfrm>
            <a:off x="913795" y="2096064"/>
            <a:ext cx="10353762" cy="4528256"/>
          </a:xfrm>
        </p:spPr>
        <p:txBody>
          <a:bodyPr>
            <a:noAutofit/>
          </a:bodyPr>
          <a:lstStyle/>
          <a:p>
            <a:pPr marL="457200" indent="-457200">
              <a:buFont typeface="+mj-lt"/>
              <a:buAutoNum type="arabicPeriod"/>
            </a:pPr>
            <a:r>
              <a:rPr lang="en-US" dirty="0">
                <a:latin typeface="Times New Roman" panose="02020603050405020304" pitchFamily="18" charset="0"/>
                <a:cs typeface="Times New Roman" panose="02020603050405020304" pitchFamily="18" charset="0"/>
              </a:rPr>
              <a:t>500 customers and 9 features</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Mix of numerical &amp; categorical variables</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Target variable: Churn (0 = Retained, 1 = Churned)</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Key Variables:</a:t>
            </a:r>
          </a:p>
          <a:p>
            <a:pPr marL="1076325"/>
            <a:r>
              <a:rPr lang="en-US" dirty="0">
                <a:latin typeface="Times New Roman" panose="02020603050405020304" pitchFamily="18" charset="0"/>
                <a:cs typeface="Times New Roman" panose="02020603050405020304" pitchFamily="18" charset="0"/>
              </a:rPr>
              <a:t>Tenure</a:t>
            </a:r>
          </a:p>
          <a:p>
            <a:pPr marL="1076325"/>
            <a:r>
              <a:rPr lang="en-US" dirty="0" err="1">
                <a:latin typeface="Times New Roman" panose="02020603050405020304" pitchFamily="18" charset="0"/>
                <a:cs typeface="Times New Roman" panose="02020603050405020304" pitchFamily="18" charset="0"/>
              </a:rPr>
              <a:t>MonthlyCharges</a:t>
            </a:r>
            <a:endParaRPr lang="en-US" dirty="0">
              <a:latin typeface="Times New Roman" panose="02020603050405020304" pitchFamily="18" charset="0"/>
              <a:cs typeface="Times New Roman" panose="02020603050405020304" pitchFamily="18" charset="0"/>
            </a:endParaRPr>
          </a:p>
          <a:p>
            <a:pPr marL="1076325"/>
            <a:r>
              <a:rPr lang="en-US" dirty="0">
                <a:latin typeface="Times New Roman" panose="02020603050405020304" pitchFamily="18" charset="0"/>
                <a:cs typeface="Times New Roman" panose="02020603050405020304" pitchFamily="18" charset="0"/>
              </a:rPr>
              <a:t>Contract</a:t>
            </a:r>
          </a:p>
          <a:p>
            <a:pPr marL="1076325"/>
            <a:r>
              <a:rPr lang="en-US" dirty="0" err="1">
                <a:latin typeface="Times New Roman" panose="02020603050405020304" pitchFamily="18" charset="0"/>
                <a:cs typeface="Times New Roman" panose="02020603050405020304" pitchFamily="18" charset="0"/>
              </a:rPr>
              <a:t>PaymentMethod</a:t>
            </a: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5355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E5666-3851-9453-A303-34A9B63675C8}"/>
              </a:ext>
            </a:extLst>
          </p:cNvPr>
          <p:cNvSpPr>
            <a:spLocks noGrp="1"/>
          </p:cNvSpPr>
          <p:nvPr>
            <p:ph type="title"/>
          </p:nvPr>
        </p:nvSpPr>
        <p:spPr/>
        <p:txBody>
          <a:bodyPr/>
          <a:lstStyle/>
          <a:p>
            <a:pPr algn="l"/>
            <a:r>
              <a:rPr lang="en-IN" dirty="0">
                <a:latin typeface="Times New Roman" panose="02020603050405020304" pitchFamily="18" charset="0"/>
                <a:cs typeface="Times New Roman" panose="02020603050405020304" pitchFamily="18" charset="0"/>
              </a:rPr>
              <a:t>EDA – Churn Distribution</a:t>
            </a:r>
          </a:p>
        </p:txBody>
      </p:sp>
      <p:sp>
        <p:nvSpPr>
          <p:cNvPr id="3" name="Content Placeholder 2">
            <a:extLst>
              <a:ext uri="{FF2B5EF4-FFF2-40B4-BE49-F238E27FC236}">
                <a16:creationId xmlns:a16="http://schemas.microsoft.com/office/drawing/2014/main" id="{3D089BED-0988-7AAA-FB15-21B0A0A975B3}"/>
              </a:ext>
            </a:extLst>
          </p:cNvPr>
          <p:cNvSpPr>
            <a:spLocks noGrp="1"/>
          </p:cNvSpPr>
          <p:nvPr>
            <p:ph idx="1"/>
          </p:nvPr>
        </p:nvSpPr>
        <p:spPr>
          <a:xfrm>
            <a:off x="913795" y="2096064"/>
            <a:ext cx="5748987" cy="3695136"/>
          </a:xfrm>
        </p:spPr>
        <p:txBody>
          <a:bodyPr/>
          <a:lstStyle/>
          <a:p>
            <a:pPr algn="just"/>
            <a:r>
              <a:rPr lang="en-US" dirty="0">
                <a:latin typeface="Times New Roman" panose="02020603050405020304" pitchFamily="18" charset="0"/>
                <a:cs typeface="Times New Roman" panose="02020603050405020304" pitchFamily="18" charset="0"/>
              </a:rPr>
              <a:t>Overall churn rate identified at </a:t>
            </a:r>
            <a:r>
              <a:rPr lang="en-US" b="1" dirty="0">
                <a:latin typeface="Times New Roman" panose="02020603050405020304" pitchFamily="18" charset="0"/>
                <a:cs typeface="Times New Roman" panose="02020603050405020304" pitchFamily="18" charset="0"/>
              </a:rPr>
              <a:t>10.6%</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Clear class imbalance: majority customers retained</a:t>
            </a:r>
          </a:p>
          <a:p>
            <a:pPr algn="just"/>
            <a:r>
              <a:rPr lang="en-US" dirty="0">
                <a:latin typeface="Times New Roman" panose="02020603050405020304" pitchFamily="18" charset="0"/>
                <a:cs typeface="Times New Roman" panose="02020603050405020304" pitchFamily="18" charset="0"/>
              </a:rPr>
              <a:t>Higher churn concentration among low-tenure customers</a:t>
            </a:r>
          </a:p>
          <a:p>
            <a:pPr algn="just"/>
            <a:r>
              <a:rPr lang="en-US" dirty="0">
                <a:latin typeface="Times New Roman" panose="02020603050405020304" pitchFamily="18" charset="0"/>
                <a:cs typeface="Times New Roman" panose="02020603050405020304" pitchFamily="18" charset="0"/>
              </a:rPr>
              <a:t>Early customer lifecycle identified as high-risk phase</a:t>
            </a:r>
          </a:p>
        </p:txBody>
      </p:sp>
      <p:pic>
        <p:nvPicPr>
          <p:cNvPr id="7" name="Picture 6">
            <a:extLst>
              <a:ext uri="{FF2B5EF4-FFF2-40B4-BE49-F238E27FC236}">
                <a16:creationId xmlns:a16="http://schemas.microsoft.com/office/drawing/2014/main" id="{DF0E0C82-27CA-3BAF-6E81-E828D10283FD}"/>
              </a:ext>
            </a:extLst>
          </p:cNvPr>
          <p:cNvPicPr>
            <a:picLocks noChangeAspect="1"/>
          </p:cNvPicPr>
          <p:nvPr/>
        </p:nvPicPr>
        <p:blipFill>
          <a:blip r:embed="rId2"/>
          <a:stretch>
            <a:fillRect/>
          </a:stretch>
        </p:blipFill>
        <p:spPr>
          <a:xfrm>
            <a:off x="6662782" y="2096064"/>
            <a:ext cx="4604774" cy="3351252"/>
          </a:xfrm>
          <a:prstGeom prst="rect">
            <a:avLst/>
          </a:prstGeom>
        </p:spPr>
      </p:pic>
    </p:spTree>
    <p:extLst>
      <p:ext uri="{BB962C8B-B14F-4D97-AF65-F5344CB8AC3E}">
        <p14:creationId xmlns:p14="http://schemas.microsoft.com/office/powerpoint/2010/main" val="3190466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E7807-4AA8-467D-9F31-E56FB231D618}"/>
              </a:ext>
            </a:extLst>
          </p:cNvPr>
          <p:cNvSpPr>
            <a:spLocks noGrp="1"/>
          </p:cNvSpPr>
          <p:nvPr>
            <p:ph type="title"/>
          </p:nvPr>
        </p:nvSpPr>
        <p:spPr/>
        <p:txBody>
          <a:bodyPr/>
          <a:lstStyle/>
          <a:p>
            <a:pPr algn="l"/>
            <a:r>
              <a:rPr lang="en-IN" dirty="0">
                <a:latin typeface="Times New Roman" panose="02020603050405020304" pitchFamily="18" charset="0"/>
                <a:cs typeface="Times New Roman" panose="02020603050405020304" pitchFamily="18" charset="0"/>
              </a:rPr>
              <a:t>EDA – Tenure vs Churn</a:t>
            </a:r>
          </a:p>
        </p:txBody>
      </p:sp>
      <p:sp>
        <p:nvSpPr>
          <p:cNvPr id="3" name="Content Placeholder 2">
            <a:extLst>
              <a:ext uri="{FF2B5EF4-FFF2-40B4-BE49-F238E27FC236}">
                <a16:creationId xmlns:a16="http://schemas.microsoft.com/office/drawing/2014/main" id="{3533BD28-6850-CECD-79C5-18667078D8C8}"/>
              </a:ext>
            </a:extLst>
          </p:cNvPr>
          <p:cNvSpPr>
            <a:spLocks noGrp="1"/>
          </p:cNvSpPr>
          <p:nvPr>
            <p:ph idx="1"/>
          </p:nvPr>
        </p:nvSpPr>
        <p:spPr>
          <a:xfrm>
            <a:off x="913795" y="2096064"/>
            <a:ext cx="5482988" cy="3695136"/>
          </a:xfrm>
        </p:spPr>
        <p:txBody>
          <a:bodyPr>
            <a:normAutofit/>
          </a:bodyPr>
          <a:lstStyle/>
          <a:p>
            <a:pPr algn="just"/>
            <a:r>
              <a:rPr lang="en-US" dirty="0">
                <a:latin typeface="Times New Roman" panose="02020603050405020304" pitchFamily="18" charset="0"/>
                <a:cs typeface="Times New Roman" panose="02020603050405020304" pitchFamily="18" charset="0"/>
              </a:rPr>
              <a:t>Churned customers show significantly lower average tenure</a:t>
            </a:r>
          </a:p>
          <a:p>
            <a:pPr algn="just"/>
            <a:r>
              <a:rPr lang="en-US" dirty="0">
                <a:latin typeface="Times New Roman" panose="02020603050405020304" pitchFamily="18" charset="0"/>
                <a:cs typeface="Times New Roman" panose="02020603050405020304" pitchFamily="18" charset="0"/>
              </a:rPr>
              <a:t>Strong inverse relationship between tenure and churn probability</a:t>
            </a:r>
          </a:p>
          <a:p>
            <a:pPr algn="just"/>
            <a:r>
              <a:rPr lang="en-US" dirty="0">
                <a:latin typeface="Times New Roman" panose="02020603050405020304" pitchFamily="18" charset="0"/>
                <a:cs typeface="Times New Roman" panose="02020603050405020304" pitchFamily="18" charset="0"/>
              </a:rPr>
              <a:t>Retention likelihood increases as tenure increases</a:t>
            </a:r>
          </a:p>
          <a:p>
            <a:pPr algn="just"/>
            <a:r>
              <a:rPr lang="en-US" dirty="0">
                <a:latin typeface="Times New Roman" panose="02020603050405020304" pitchFamily="18" charset="0"/>
                <a:cs typeface="Times New Roman" panose="02020603050405020304" pitchFamily="18" charset="0"/>
              </a:rPr>
              <a:t>Early-stage customers represent highest churn risk</a:t>
            </a:r>
          </a:p>
        </p:txBody>
      </p:sp>
      <p:pic>
        <p:nvPicPr>
          <p:cNvPr id="4" name="Picture 3">
            <a:extLst>
              <a:ext uri="{FF2B5EF4-FFF2-40B4-BE49-F238E27FC236}">
                <a16:creationId xmlns:a16="http://schemas.microsoft.com/office/drawing/2014/main" id="{6CD0BF72-404C-3B7D-E255-6BE6BBF8A13F}"/>
              </a:ext>
            </a:extLst>
          </p:cNvPr>
          <p:cNvPicPr>
            <a:picLocks noChangeAspect="1"/>
          </p:cNvPicPr>
          <p:nvPr/>
        </p:nvPicPr>
        <p:blipFill>
          <a:blip r:embed="rId2"/>
          <a:stretch>
            <a:fillRect/>
          </a:stretch>
        </p:blipFill>
        <p:spPr>
          <a:xfrm>
            <a:off x="6396783" y="2096064"/>
            <a:ext cx="4870773" cy="3337119"/>
          </a:xfrm>
          <a:prstGeom prst="rect">
            <a:avLst/>
          </a:prstGeom>
        </p:spPr>
      </p:pic>
    </p:spTree>
    <p:extLst>
      <p:ext uri="{BB962C8B-B14F-4D97-AF65-F5344CB8AC3E}">
        <p14:creationId xmlns:p14="http://schemas.microsoft.com/office/powerpoint/2010/main" val="3363883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4A0B1-2DAD-9C3D-33DB-6FEC3D4FDE52}"/>
              </a:ext>
            </a:extLst>
          </p:cNvPr>
          <p:cNvSpPr>
            <a:spLocks noGrp="1"/>
          </p:cNvSpPr>
          <p:nvPr>
            <p:ph type="title"/>
          </p:nvPr>
        </p:nvSpPr>
        <p:spPr/>
        <p:txBody>
          <a:bodyPr/>
          <a:lstStyle/>
          <a:p>
            <a:pPr algn="l"/>
            <a:r>
              <a:rPr lang="en-IN" dirty="0">
                <a:latin typeface="Times New Roman" panose="02020603050405020304" pitchFamily="18" charset="0"/>
                <a:cs typeface="Times New Roman" panose="02020603050405020304" pitchFamily="18" charset="0"/>
              </a:rPr>
              <a:t>EDA – Contract Type Impact</a:t>
            </a:r>
          </a:p>
        </p:txBody>
      </p:sp>
      <p:sp>
        <p:nvSpPr>
          <p:cNvPr id="3" name="Content Placeholder 2">
            <a:extLst>
              <a:ext uri="{FF2B5EF4-FFF2-40B4-BE49-F238E27FC236}">
                <a16:creationId xmlns:a16="http://schemas.microsoft.com/office/drawing/2014/main" id="{5C2E591A-7A7B-41C1-701C-7D5BF838C531}"/>
              </a:ext>
            </a:extLst>
          </p:cNvPr>
          <p:cNvSpPr>
            <a:spLocks noGrp="1"/>
          </p:cNvSpPr>
          <p:nvPr>
            <p:ph idx="1"/>
          </p:nvPr>
        </p:nvSpPr>
        <p:spPr>
          <a:xfrm>
            <a:off x="913795" y="2096064"/>
            <a:ext cx="5885584" cy="3695136"/>
          </a:xfrm>
        </p:spPr>
        <p:txBody>
          <a:bodyPr/>
          <a:lstStyle/>
          <a:p>
            <a:pPr algn="just"/>
            <a:r>
              <a:rPr lang="en-US" dirty="0">
                <a:latin typeface="Times New Roman" panose="02020603050405020304" pitchFamily="18" charset="0"/>
                <a:cs typeface="Times New Roman" panose="02020603050405020304" pitchFamily="18" charset="0"/>
              </a:rPr>
              <a:t>Month-to-month contracts exhibit the highest churn rate</a:t>
            </a:r>
          </a:p>
          <a:p>
            <a:pPr algn="just"/>
            <a:r>
              <a:rPr lang="en-US" dirty="0">
                <a:latin typeface="Times New Roman" panose="02020603050405020304" pitchFamily="18" charset="0"/>
                <a:cs typeface="Times New Roman" panose="02020603050405020304" pitchFamily="18" charset="0"/>
              </a:rPr>
              <a:t>One-year and two-year contracts show significantly lower churn</a:t>
            </a:r>
          </a:p>
          <a:p>
            <a:pPr algn="just"/>
            <a:r>
              <a:rPr lang="en-US" dirty="0">
                <a:latin typeface="Times New Roman" panose="02020603050405020304" pitchFamily="18" charset="0"/>
                <a:cs typeface="Times New Roman" panose="02020603050405020304" pitchFamily="18" charset="0"/>
              </a:rPr>
              <a:t>Long-term commitment strongly improves customer retention</a:t>
            </a:r>
          </a:p>
          <a:p>
            <a:pPr algn="just"/>
            <a:r>
              <a:rPr lang="en-US" dirty="0">
                <a:latin typeface="Times New Roman" panose="02020603050405020304" pitchFamily="18" charset="0"/>
                <a:cs typeface="Times New Roman" panose="02020603050405020304" pitchFamily="18" charset="0"/>
              </a:rPr>
              <a:t>Contract structure is a major retention lever</a:t>
            </a:r>
          </a:p>
        </p:txBody>
      </p:sp>
      <p:pic>
        <p:nvPicPr>
          <p:cNvPr id="7" name="Picture 6">
            <a:extLst>
              <a:ext uri="{FF2B5EF4-FFF2-40B4-BE49-F238E27FC236}">
                <a16:creationId xmlns:a16="http://schemas.microsoft.com/office/drawing/2014/main" id="{DFCF9022-D002-022A-4AA5-BF26292D3B86}"/>
              </a:ext>
            </a:extLst>
          </p:cNvPr>
          <p:cNvPicPr>
            <a:picLocks noChangeAspect="1"/>
          </p:cNvPicPr>
          <p:nvPr/>
        </p:nvPicPr>
        <p:blipFill>
          <a:blip r:embed="rId2"/>
          <a:stretch>
            <a:fillRect/>
          </a:stretch>
        </p:blipFill>
        <p:spPr>
          <a:xfrm>
            <a:off x="6799379" y="2096064"/>
            <a:ext cx="4468177" cy="3510251"/>
          </a:xfrm>
          <a:prstGeom prst="rect">
            <a:avLst/>
          </a:prstGeom>
        </p:spPr>
      </p:pic>
    </p:spTree>
    <p:extLst>
      <p:ext uri="{BB962C8B-B14F-4D97-AF65-F5344CB8AC3E}">
        <p14:creationId xmlns:p14="http://schemas.microsoft.com/office/powerpoint/2010/main" val="4006039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F3C83-63D6-F7B0-60E6-3F689F083373}"/>
              </a:ext>
            </a:extLst>
          </p:cNvPr>
          <p:cNvSpPr>
            <a:spLocks noGrp="1"/>
          </p:cNvSpPr>
          <p:nvPr>
            <p:ph type="title"/>
          </p:nvPr>
        </p:nvSpPr>
        <p:spPr/>
        <p:txBody>
          <a:bodyPr/>
          <a:lstStyle/>
          <a:p>
            <a:pPr algn="l"/>
            <a:r>
              <a:rPr lang="en-IN" dirty="0">
                <a:latin typeface="Times New Roman" panose="02020603050405020304" pitchFamily="18" charset="0"/>
                <a:cs typeface="Times New Roman" panose="02020603050405020304" pitchFamily="18" charset="0"/>
              </a:rPr>
              <a:t>EDA – Monthly Charges Impact</a:t>
            </a:r>
          </a:p>
        </p:txBody>
      </p:sp>
      <p:sp>
        <p:nvSpPr>
          <p:cNvPr id="3" name="Content Placeholder 2">
            <a:extLst>
              <a:ext uri="{FF2B5EF4-FFF2-40B4-BE49-F238E27FC236}">
                <a16:creationId xmlns:a16="http://schemas.microsoft.com/office/drawing/2014/main" id="{68BCAADD-4254-F874-7F2E-486DC4DCA9A1}"/>
              </a:ext>
            </a:extLst>
          </p:cNvPr>
          <p:cNvSpPr>
            <a:spLocks noGrp="1"/>
          </p:cNvSpPr>
          <p:nvPr>
            <p:ph idx="1"/>
          </p:nvPr>
        </p:nvSpPr>
        <p:spPr>
          <a:xfrm>
            <a:off x="913795" y="2096064"/>
            <a:ext cx="5419086" cy="3695136"/>
          </a:xfrm>
        </p:spPr>
        <p:txBody>
          <a:bodyPr>
            <a:normAutofit/>
          </a:bodyPr>
          <a:lstStyle/>
          <a:p>
            <a:pPr algn="just"/>
            <a:r>
              <a:rPr lang="en-US" dirty="0">
                <a:latin typeface="Times New Roman" panose="02020603050405020304" pitchFamily="18" charset="0"/>
                <a:cs typeface="Times New Roman" panose="02020603050405020304" pitchFamily="18" charset="0"/>
              </a:rPr>
              <a:t>Higher monthly charges are associated with increased churn probability</a:t>
            </a:r>
          </a:p>
          <a:p>
            <a:pPr algn="just"/>
            <a:r>
              <a:rPr lang="en-US" dirty="0">
                <a:latin typeface="Times New Roman" panose="02020603050405020304" pitchFamily="18" charset="0"/>
                <a:cs typeface="Times New Roman" panose="02020603050405020304" pitchFamily="18" charset="0"/>
              </a:rPr>
              <a:t>Customers with higher billing show greater price sensitivity</a:t>
            </a:r>
          </a:p>
          <a:p>
            <a:pPr algn="just"/>
            <a:r>
              <a:rPr lang="en-US" dirty="0">
                <a:latin typeface="Times New Roman" panose="02020603050405020304" pitchFamily="18" charset="0"/>
                <a:cs typeface="Times New Roman" panose="02020603050405020304" pitchFamily="18" charset="0"/>
              </a:rPr>
              <a:t>Short-tenure customers are more likely to churn when charges are high</a:t>
            </a:r>
          </a:p>
          <a:p>
            <a:pPr algn="just"/>
            <a:r>
              <a:rPr lang="en-US" dirty="0">
                <a:latin typeface="Times New Roman" panose="02020603050405020304" pitchFamily="18" charset="0"/>
                <a:cs typeface="Times New Roman" panose="02020603050405020304" pitchFamily="18" charset="0"/>
              </a:rPr>
              <a:t>Pricing strategy influences retention behavior</a:t>
            </a:r>
          </a:p>
        </p:txBody>
      </p:sp>
      <p:pic>
        <p:nvPicPr>
          <p:cNvPr id="5" name="Picture 4">
            <a:extLst>
              <a:ext uri="{FF2B5EF4-FFF2-40B4-BE49-F238E27FC236}">
                <a16:creationId xmlns:a16="http://schemas.microsoft.com/office/drawing/2014/main" id="{1187E72C-03A7-33A7-64DC-93F2147BA1FF}"/>
              </a:ext>
            </a:extLst>
          </p:cNvPr>
          <p:cNvPicPr>
            <a:picLocks noChangeAspect="1"/>
          </p:cNvPicPr>
          <p:nvPr/>
        </p:nvPicPr>
        <p:blipFill>
          <a:blip r:embed="rId2"/>
          <a:stretch>
            <a:fillRect/>
          </a:stretch>
        </p:blipFill>
        <p:spPr>
          <a:xfrm>
            <a:off x="6332881" y="2096065"/>
            <a:ext cx="4934675" cy="3337118"/>
          </a:xfrm>
          <a:prstGeom prst="rect">
            <a:avLst/>
          </a:prstGeom>
        </p:spPr>
      </p:pic>
    </p:spTree>
    <p:extLst>
      <p:ext uri="{BB962C8B-B14F-4D97-AF65-F5344CB8AC3E}">
        <p14:creationId xmlns:p14="http://schemas.microsoft.com/office/powerpoint/2010/main" val="812223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96221-4856-419E-BD25-7EADE5DE7953}"/>
              </a:ext>
            </a:extLst>
          </p:cNvPr>
          <p:cNvSpPr>
            <a:spLocks noGrp="1"/>
          </p:cNvSpPr>
          <p:nvPr>
            <p:ph type="title"/>
          </p:nvPr>
        </p:nvSpPr>
        <p:spPr/>
        <p:txBody>
          <a:bodyPr/>
          <a:lstStyle/>
          <a:p>
            <a:pPr algn="l"/>
            <a:r>
              <a:rPr lang="en-IN" dirty="0">
                <a:latin typeface="Times New Roman" panose="02020603050405020304" pitchFamily="18" charset="0"/>
                <a:cs typeface="Times New Roman" panose="02020603050405020304" pitchFamily="18" charset="0"/>
              </a:rPr>
              <a:t>Key Insights</a:t>
            </a:r>
          </a:p>
        </p:txBody>
      </p:sp>
      <p:sp>
        <p:nvSpPr>
          <p:cNvPr id="3" name="Content Placeholder 2">
            <a:extLst>
              <a:ext uri="{FF2B5EF4-FFF2-40B4-BE49-F238E27FC236}">
                <a16:creationId xmlns:a16="http://schemas.microsoft.com/office/drawing/2014/main" id="{9E7C835B-DE41-DD55-ED2B-A2ECCFF5ACBF}"/>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Short tenure is the strongest predictor of churn risk</a:t>
            </a:r>
          </a:p>
          <a:p>
            <a:r>
              <a:rPr lang="en-US" dirty="0">
                <a:latin typeface="Times New Roman" panose="02020603050405020304" pitchFamily="18" charset="0"/>
                <a:cs typeface="Times New Roman" panose="02020603050405020304" pitchFamily="18" charset="0"/>
              </a:rPr>
              <a:t>Contract type significantly impacts customer retention</a:t>
            </a:r>
          </a:p>
          <a:p>
            <a:r>
              <a:rPr lang="en-US" dirty="0">
                <a:latin typeface="Times New Roman" panose="02020603050405020304" pitchFamily="18" charset="0"/>
                <a:cs typeface="Times New Roman" panose="02020603050405020304" pitchFamily="18" charset="0"/>
              </a:rPr>
              <a:t>Higher monthly charges increase likelihood of churn</a:t>
            </a:r>
          </a:p>
          <a:p>
            <a:r>
              <a:rPr lang="en-US" dirty="0">
                <a:latin typeface="Times New Roman" panose="02020603050405020304" pitchFamily="18" charset="0"/>
                <a:cs typeface="Times New Roman" panose="02020603050405020304" pitchFamily="18" charset="0"/>
              </a:rPr>
              <a:t>Payment method patterns influence churn behavior</a:t>
            </a:r>
          </a:p>
        </p:txBody>
      </p:sp>
    </p:spTree>
    <p:extLst>
      <p:ext uri="{BB962C8B-B14F-4D97-AF65-F5344CB8AC3E}">
        <p14:creationId xmlns:p14="http://schemas.microsoft.com/office/powerpoint/2010/main" val="2022380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FF9CB-ED35-4799-3EC3-E4DDADFE4A05}"/>
              </a:ext>
            </a:extLst>
          </p:cNvPr>
          <p:cNvSpPr>
            <a:spLocks noGrp="1"/>
          </p:cNvSpPr>
          <p:nvPr>
            <p:ph type="title"/>
          </p:nvPr>
        </p:nvSpPr>
        <p:spPr/>
        <p:txBody>
          <a:bodyPr/>
          <a:lstStyle/>
          <a:p>
            <a:pPr algn="l"/>
            <a:r>
              <a:rPr lang="en-IN" dirty="0">
                <a:latin typeface="Times New Roman" panose="02020603050405020304" pitchFamily="18" charset="0"/>
                <a:cs typeface="Times New Roman" panose="02020603050405020304" pitchFamily="18" charset="0"/>
              </a:rPr>
              <a:t>Modelling Approach</a:t>
            </a:r>
          </a:p>
        </p:txBody>
      </p:sp>
      <p:sp>
        <p:nvSpPr>
          <p:cNvPr id="3" name="Content Placeholder 2">
            <a:extLst>
              <a:ext uri="{FF2B5EF4-FFF2-40B4-BE49-F238E27FC236}">
                <a16:creationId xmlns:a16="http://schemas.microsoft.com/office/drawing/2014/main" id="{75996A2F-F644-4F7C-34E3-BBFFF05DC4CB}"/>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Data cleaning and feature engineering for consistency and quality</a:t>
            </a:r>
          </a:p>
          <a:p>
            <a:r>
              <a:rPr lang="en-US" dirty="0">
                <a:latin typeface="Times New Roman" panose="02020603050405020304" pitchFamily="18" charset="0"/>
                <a:cs typeface="Times New Roman" panose="02020603050405020304" pitchFamily="18" charset="0"/>
              </a:rPr>
              <a:t>Categorical encoding and feature scaling applied</a:t>
            </a:r>
          </a:p>
          <a:p>
            <a:r>
              <a:rPr lang="en-US" dirty="0">
                <a:latin typeface="Times New Roman" panose="02020603050405020304" pitchFamily="18" charset="0"/>
                <a:cs typeface="Times New Roman" panose="02020603050405020304" pitchFamily="18" charset="0"/>
              </a:rPr>
              <a:t>80/20 train-test split for unbiased evaluation</a:t>
            </a:r>
          </a:p>
          <a:p>
            <a:r>
              <a:rPr lang="en-US" dirty="0">
                <a:latin typeface="Times New Roman" panose="02020603050405020304" pitchFamily="18" charset="0"/>
                <a:cs typeface="Times New Roman" panose="02020603050405020304" pitchFamily="18" charset="0"/>
              </a:rPr>
              <a:t>Logistic Regression as baseline model</a:t>
            </a:r>
          </a:p>
          <a:p>
            <a:r>
              <a:rPr lang="en-US" dirty="0">
                <a:latin typeface="Times New Roman" panose="02020603050405020304" pitchFamily="18" charset="0"/>
                <a:cs typeface="Times New Roman" panose="02020603050405020304" pitchFamily="18" charset="0"/>
              </a:rPr>
              <a:t>Random Forest with hyperparameter tuning for optimization</a:t>
            </a:r>
          </a:p>
          <a:p>
            <a:r>
              <a:rPr lang="en-US" dirty="0">
                <a:latin typeface="Times New Roman" panose="02020603050405020304" pitchFamily="18" charset="0"/>
                <a:cs typeface="Times New Roman" panose="02020603050405020304" pitchFamily="18" charset="0"/>
              </a:rPr>
              <a:t>5-fold cross-validation to ensure model stability</a:t>
            </a:r>
          </a:p>
        </p:txBody>
      </p:sp>
    </p:spTree>
    <p:extLst>
      <p:ext uri="{BB962C8B-B14F-4D97-AF65-F5344CB8AC3E}">
        <p14:creationId xmlns:p14="http://schemas.microsoft.com/office/powerpoint/2010/main" val="2912079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BF2D9-AACD-216F-0582-34F041F9B056}"/>
              </a:ext>
            </a:extLst>
          </p:cNvPr>
          <p:cNvSpPr>
            <a:spLocks noGrp="1"/>
          </p:cNvSpPr>
          <p:nvPr>
            <p:ph type="title"/>
          </p:nvPr>
        </p:nvSpPr>
        <p:spPr/>
        <p:txBody>
          <a:bodyPr/>
          <a:lstStyle/>
          <a:p>
            <a:pPr algn="l"/>
            <a:r>
              <a:rPr lang="en-IN" dirty="0">
                <a:latin typeface="Times New Roman" panose="02020603050405020304" pitchFamily="18" charset="0"/>
                <a:cs typeface="Times New Roman" panose="02020603050405020304" pitchFamily="18" charset="0"/>
              </a:rPr>
              <a:t>Model Performance</a:t>
            </a:r>
          </a:p>
        </p:txBody>
      </p:sp>
      <p:sp>
        <p:nvSpPr>
          <p:cNvPr id="3" name="Content Placeholder 2">
            <a:extLst>
              <a:ext uri="{FF2B5EF4-FFF2-40B4-BE49-F238E27FC236}">
                <a16:creationId xmlns:a16="http://schemas.microsoft.com/office/drawing/2014/main" id="{9E009156-7880-6095-A1A5-BAE176785E5F}"/>
              </a:ext>
            </a:extLst>
          </p:cNvPr>
          <p:cNvSpPr>
            <a:spLocks noGrp="1"/>
          </p:cNvSpPr>
          <p:nvPr>
            <p:ph idx="1"/>
          </p:nvPr>
        </p:nvSpPr>
        <p:spPr>
          <a:xfrm>
            <a:off x="913795" y="2096064"/>
            <a:ext cx="6175461" cy="3695136"/>
          </a:xfrm>
        </p:spPr>
        <p:txBody>
          <a:bodyPr>
            <a:normAutofit/>
          </a:bodyPr>
          <a:lstStyle/>
          <a:p>
            <a:pPr algn="just"/>
            <a:r>
              <a:rPr lang="en-US" dirty="0">
                <a:latin typeface="Times New Roman" panose="02020603050405020304" pitchFamily="18" charset="0"/>
                <a:cs typeface="Times New Roman" panose="02020603050405020304" pitchFamily="18" charset="0"/>
              </a:rPr>
              <a:t>ROC-AUC used to evaluate model discrimination power</a:t>
            </a:r>
          </a:p>
          <a:p>
            <a:pPr algn="just"/>
            <a:r>
              <a:rPr lang="en-US" dirty="0">
                <a:latin typeface="Times New Roman" panose="02020603050405020304" pitchFamily="18" charset="0"/>
                <a:cs typeface="Times New Roman" panose="02020603050405020304" pitchFamily="18" charset="0"/>
              </a:rPr>
              <a:t>Random Forest outperformed Logistic Regression in overall performance</a:t>
            </a:r>
          </a:p>
          <a:p>
            <a:pPr algn="just"/>
            <a:r>
              <a:rPr lang="en-US" dirty="0">
                <a:latin typeface="Times New Roman" panose="02020603050405020304" pitchFamily="18" charset="0"/>
                <a:cs typeface="Times New Roman" panose="02020603050405020304" pitchFamily="18" charset="0"/>
              </a:rPr>
              <a:t>Strong recall achieved for churn class, improving detection of at-risk customers</a:t>
            </a:r>
          </a:p>
          <a:p>
            <a:pPr algn="just"/>
            <a:r>
              <a:rPr lang="en-US" dirty="0">
                <a:latin typeface="Times New Roman" panose="02020603050405020304" pitchFamily="18" charset="0"/>
                <a:cs typeface="Times New Roman" panose="02020603050405020304" pitchFamily="18" charset="0"/>
              </a:rPr>
              <a:t>Model generates reliable churn probability scores for risk prioritization</a:t>
            </a:r>
          </a:p>
        </p:txBody>
      </p:sp>
      <p:pic>
        <p:nvPicPr>
          <p:cNvPr id="6" name="Picture 5">
            <a:extLst>
              <a:ext uri="{FF2B5EF4-FFF2-40B4-BE49-F238E27FC236}">
                <a16:creationId xmlns:a16="http://schemas.microsoft.com/office/drawing/2014/main" id="{3E8EDBE9-C4A1-8D99-7B54-8825B6740B02}"/>
              </a:ext>
            </a:extLst>
          </p:cNvPr>
          <p:cNvPicPr>
            <a:picLocks noChangeAspect="1"/>
          </p:cNvPicPr>
          <p:nvPr/>
        </p:nvPicPr>
        <p:blipFill>
          <a:blip r:embed="rId2"/>
          <a:stretch>
            <a:fillRect/>
          </a:stretch>
        </p:blipFill>
        <p:spPr>
          <a:xfrm>
            <a:off x="7089256" y="2111728"/>
            <a:ext cx="4178300" cy="3663808"/>
          </a:xfrm>
          <a:prstGeom prst="rect">
            <a:avLst/>
          </a:prstGeom>
        </p:spPr>
      </p:pic>
    </p:spTree>
    <p:extLst>
      <p:ext uri="{BB962C8B-B14F-4D97-AF65-F5344CB8AC3E}">
        <p14:creationId xmlns:p14="http://schemas.microsoft.com/office/powerpoint/2010/main" val="3091430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088D-A33B-5846-84FD-B33B96361E93}"/>
              </a:ext>
            </a:extLst>
          </p:cNvPr>
          <p:cNvSpPr>
            <a:spLocks noGrp="1"/>
          </p:cNvSpPr>
          <p:nvPr>
            <p:ph type="title"/>
          </p:nvPr>
        </p:nvSpPr>
        <p:spPr/>
        <p:txBody>
          <a:bodyPr/>
          <a:lstStyle/>
          <a:p>
            <a:pPr algn="l"/>
            <a:r>
              <a:rPr lang="en-IN" dirty="0">
                <a:latin typeface="Times New Roman" panose="02020603050405020304" pitchFamily="18" charset="0"/>
                <a:cs typeface="Times New Roman" panose="02020603050405020304" pitchFamily="18" charset="0"/>
              </a:rPr>
              <a:t>Revenue Impact Analysis</a:t>
            </a:r>
          </a:p>
        </p:txBody>
      </p:sp>
      <p:sp>
        <p:nvSpPr>
          <p:cNvPr id="3" name="Content Placeholder 2">
            <a:extLst>
              <a:ext uri="{FF2B5EF4-FFF2-40B4-BE49-F238E27FC236}">
                <a16:creationId xmlns:a16="http://schemas.microsoft.com/office/drawing/2014/main" id="{1C922C0A-C68C-B84F-8DB4-608638F6ECE6}"/>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High-risk customers identified using churn probability scoring</a:t>
            </a:r>
          </a:p>
          <a:p>
            <a:r>
              <a:rPr lang="en-US" dirty="0">
                <a:latin typeface="Times New Roman" panose="02020603050405020304" pitchFamily="18" charset="0"/>
                <a:cs typeface="Times New Roman" panose="02020603050405020304" pitchFamily="18" charset="0"/>
              </a:rPr>
              <a:t>Estimated annual revenue at risk calculated from predicted churners</a:t>
            </a:r>
          </a:p>
          <a:p>
            <a:r>
              <a:rPr lang="en-US" dirty="0">
                <a:latin typeface="Times New Roman" panose="02020603050405020304" pitchFamily="18" charset="0"/>
                <a:cs typeface="Times New Roman" panose="02020603050405020304" pitchFamily="18" charset="0"/>
              </a:rPr>
              <a:t>Top-risk segment prioritized for targeted retention campaigns</a:t>
            </a:r>
          </a:p>
          <a:p>
            <a:r>
              <a:rPr lang="en-US" dirty="0">
                <a:latin typeface="Times New Roman" panose="02020603050405020304" pitchFamily="18" charset="0"/>
                <a:cs typeface="Times New Roman" panose="02020603050405020304" pitchFamily="18" charset="0"/>
              </a:rPr>
              <a:t>Clear revenue protection opportunity established through proactive intervention</a:t>
            </a:r>
          </a:p>
        </p:txBody>
      </p:sp>
    </p:spTree>
    <p:extLst>
      <p:ext uri="{BB962C8B-B14F-4D97-AF65-F5344CB8AC3E}">
        <p14:creationId xmlns:p14="http://schemas.microsoft.com/office/powerpoint/2010/main" val="4033957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96635-E129-CA87-DA95-6840B7C581DC}"/>
              </a:ext>
            </a:extLst>
          </p:cNvPr>
          <p:cNvSpPr>
            <a:spLocks noGrp="1"/>
          </p:cNvSpPr>
          <p:nvPr>
            <p:ph type="title"/>
          </p:nvPr>
        </p:nvSpPr>
        <p:spPr/>
        <p:txBody>
          <a:bodyPr/>
          <a:lstStyle/>
          <a:p>
            <a:pPr algn="l"/>
            <a:r>
              <a:rPr lang="en-IN" dirty="0">
                <a:latin typeface="Times New Roman" panose="02020603050405020304" pitchFamily="18" charset="0"/>
                <a:cs typeface="Times New Roman" panose="02020603050405020304" pitchFamily="18" charset="0"/>
              </a:rPr>
              <a:t>Recommendations</a:t>
            </a:r>
          </a:p>
        </p:txBody>
      </p:sp>
      <p:sp>
        <p:nvSpPr>
          <p:cNvPr id="3" name="Content Placeholder 2">
            <a:extLst>
              <a:ext uri="{FF2B5EF4-FFF2-40B4-BE49-F238E27FC236}">
                <a16:creationId xmlns:a16="http://schemas.microsoft.com/office/drawing/2014/main" id="{BB28538D-8F88-EA01-5941-B839BF82CD8E}"/>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Incentivize month-to-month customers to upgrade to annual contracts</a:t>
            </a:r>
          </a:p>
          <a:p>
            <a:r>
              <a:rPr lang="en-US" dirty="0">
                <a:latin typeface="Times New Roman" panose="02020603050405020304" pitchFamily="18" charset="0"/>
                <a:cs typeface="Times New Roman" panose="02020603050405020304" pitchFamily="18" charset="0"/>
              </a:rPr>
              <a:t>Launch early-retention campaigns for customers with tenure &lt; 12 months</a:t>
            </a:r>
          </a:p>
          <a:p>
            <a:r>
              <a:rPr lang="en-US" dirty="0">
                <a:latin typeface="Times New Roman" panose="02020603050405020304" pitchFamily="18" charset="0"/>
                <a:cs typeface="Times New Roman" panose="02020603050405020304" pitchFamily="18" charset="0"/>
              </a:rPr>
              <a:t>Offer targeted loyalty discounts to high monthly charge segments</a:t>
            </a:r>
          </a:p>
          <a:p>
            <a:r>
              <a:rPr lang="en-US" dirty="0">
                <a:latin typeface="Times New Roman" panose="02020603050405020304" pitchFamily="18" charset="0"/>
                <a:cs typeface="Times New Roman" panose="02020603050405020304" pitchFamily="18" charset="0"/>
              </a:rPr>
              <a:t>Integrate churn prediction model into CRM for proactive intervention</a:t>
            </a:r>
          </a:p>
        </p:txBody>
      </p:sp>
    </p:spTree>
    <p:extLst>
      <p:ext uri="{BB962C8B-B14F-4D97-AF65-F5344CB8AC3E}">
        <p14:creationId xmlns:p14="http://schemas.microsoft.com/office/powerpoint/2010/main" val="2155790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6AEF-381F-21C6-96B8-E017A92B2772}"/>
              </a:ext>
            </a:extLst>
          </p:cNvPr>
          <p:cNvSpPr>
            <a:spLocks noGrp="1"/>
          </p:cNvSpPr>
          <p:nvPr>
            <p:ph type="title"/>
          </p:nvPr>
        </p:nvSpPr>
        <p:spPr/>
        <p:txBody>
          <a:bodyPr/>
          <a:lstStyle/>
          <a:p>
            <a:pPr algn="l"/>
            <a:r>
              <a:rPr lang="en-IN" dirty="0">
                <a:latin typeface="Times New Roman" panose="02020603050405020304" pitchFamily="18" charset="0"/>
                <a:cs typeface="Times New Roman" panose="02020603050405020304" pitchFamily="18" charset="0"/>
              </a:rPr>
              <a:t>ROI &amp; Implementation Plan</a:t>
            </a:r>
          </a:p>
        </p:txBody>
      </p:sp>
      <p:sp>
        <p:nvSpPr>
          <p:cNvPr id="3" name="Content Placeholder 2">
            <a:extLst>
              <a:ext uri="{FF2B5EF4-FFF2-40B4-BE49-F238E27FC236}">
                <a16:creationId xmlns:a16="http://schemas.microsoft.com/office/drawing/2014/main" id="{8F80400D-C51B-172F-12B2-2C2DFCAF12E8}"/>
              </a:ext>
            </a:extLst>
          </p:cNvPr>
          <p:cNvSpPr>
            <a:spLocks noGrp="1"/>
          </p:cNvSpPr>
          <p:nvPr>
            <p:ph idx="1"/>
          </p:nvPr>
        </p:nvSpPr>
        <p:spPr>
          <a:xfrm>
            <a:off x="913794" y="1791264"/>
            <a:ext cx="10353762" cy="2486096"/>
          </a:xfrm>
        </p:spPr>
        <p:txBody>
          <a:bodyPr>
            <a:noAutofit/>
          </a:bodyPr>
          <a:lstStyle/>
          <a:p>
            <a:pPr marL="457200" indent="-457200">
              <a:buFont typeface="+mj-lt"/>
              <a:buAutoNum type="arabicPeriod"/>
            </a:pPr>
            <a:r>
              <a:rPr lang="en-IN" sz="1800" b="1" dirty="0">
                <a:latin typeface="Times New Roman" panose="02020603050405020304" pitchFamily="18" charset="0"/>
                <a:cs typeface="Times New Roman" panose="02020603050405020304" pitchFamily="18" charset="0"/>
              </a:rPr>
              <a:t>ROI Estimate</a:t>
            </a:r>
            <a:endParaRPr lang="en-US" sz="1800" b="1" dirty="0">
              <a:latin typeface="Times New Roman" panose="02020603050405020304" pitchFamily="18" charset="0"/>
              <a:cs typeface="Times New Roman" panose="02020603050405020304" pitchFamily="18" charset="0"/>
            </a:endParaRPr>
          </a:p>
          <a:p>
            <a:pPr marL="630238">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5% churn reduction → measurable annual revenue protection</a:t>
            </a:r>
          </a:p>
          <a:p>
            <a:pPr marL="630238">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Lower customer acquisition cost through improved retention</a:t>
            </a:r>
          </a:p>
          <a:p>
            <a:pPr marL="630238">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Increased Customer Lifetime Value (CLV)</a:t>
            </a:r>
          </a:p>
          <a:p>
            <a:pPr marL="630238">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Stronger revenue predictability and growth stability</a:t>
            </a:r>
          </a:p>
        </p:txBody>
      </p:sp>
      <p:sp>
        <p:nvSpPr>
          <p:cNvPr id="6" name="Content Placeholder 2">
            <a:extLst>
              <a:ext uri="{FF2B5EF4-FFF2-40B4-BE49-F238E27FC236}">
                <a16:creationId xmlns:a16="http://schemas.microsoft.com/office/drawing/2014/main" id="{0674C30C-D7AF-B052-BB83-7BA60BD9CE3B}"/>
              </a:ext>
            </a:extLst>
          </p:cNvPr>
          <p:cNvSpPr txBox="1">
            <a:spLocks/>
          </p:cNvSpPr>
          <p:nvPr/>
        </p:nvSpPr>
        <p:spPr>
          <a:xfrm>
            <a:off x="913794" y="4215976"/>
            <a:ext cx="10353762" cy="2486096"/>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mj-lt"/>
              <a:buAutoNum type="arabicPeriod" startAt="2"/>
            </a:pPr>
            <a:r>
              <a:rPr lang="en-IN" sz="1800" dirty="0">
                <a:latin typeface="Times New Roman" panose="02020603050405020304" pitchFamily="18" charset="0"/>
                <a:cs typeface="Times New Roman" panose="02020603050405020304" pitchFamily="18" charset="0"/>
              </a:rPr>
              <a:t>Implementation Plan</a:t>
            </a:r>
            <a:endParaRPr lang="en-US" sz="1800" b="1" dirty="0">
              <a:latin typeface="Times New Roman" panose="02020603050405020304" pitchFamily="18" charset="0"/>
              <a:cs typeface="Times New Roman" panose="02020603050405020304" pitchFamily="18" charset="0"/>
            </a:endParaRPr>
          </a:p>
          <a:p>
            <a:pPr marL="630238">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Day 1 - 2: Deploy churn prediction model into CRM</a:t>
            </a:r>
          </a:p>
          <a:p>
            <a:pPr marL="630238">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Day 3 - 4: Launch targeted retention campaigns for high-risk segment</a:t>
            </a:r>
          </a:p>
          <a:p>
            <a:pPr marL="630238">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Day 5: Track churn rate, recall, and revenue impact KPIs</a:t>
            </a:r>
          </a:p>
          <a:p>
            <a:pPr marL="630238">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Day 6 - 7: Optimize targeting rules and incentive strategy</a:t>
            </a:r>
          </a:p>
        </p:txBody>
      </p:sp>
    </p:spTree>
    <p:extLst>
      <p:ext uri="{BB962C8B-B14F-4D97-AF65-F5344CB8AC3E}">
        <p14:creationId xmlns:p14="http://schemas.microsoft.com/office/powerpoint/2010/main" val="3142758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FEE20-6642-2627-C266-84FF7F492E54}"/>
              </a:ext>
            </a:extLst>
          </p:cNvPr>
          <p:cNvSpPr>
            <a:spLocks noGrp="1"/>
          </p:cNvSpPr>
          <p:nvPr>
            <p:ph type="title"/>
          </p:nvPr>
        </p:nvSpPr>
        <p:spPr/>
        <p:txBody>
          <a:bodyPr/>
          <a:lstStyle/>
          <a:p>
            <a:pPr algn="l"/>
            <a:r>
              <a:rPr lang="en-IN"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76074D78-061C-5FCB-4696-D48E248CC3C3}"/>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The analysis successfully identified the primary drivers of customer churn and developed a reliable predictive model to detect high-risk customers. Key factors such as short tenure, contract type, and monthly charges significantly influence churn behavior. By implementing targeted retention strategies based on these insights, the company can proactively reduce churn, protect recurring revenue, and improve long-term customer value.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6463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5267C-3D7C-C753-8D62-18A73459A018}"/>
              </a:ext>
            </a:extLst>
          </p:cNvPr>
          <p:cNvSpPr>
            <a:spLocks noGrp="1"/>
          </p:cNvSpPr>
          <p:nvPr>
            <p:ph type="title"/>
          </p:nvPr>
        </p:nvSpPr>
        <p:spPr>
          <a:xfrm>
            <a:off x="919119" y="2590800"/>
            <a:ext cx="10353761" cy="1326321"/>
          </a:xfrm>
        </p:spPr>
        <p:txBody>
          <a:bodyPr>
            <a:normAutofit/>
          </a:bodyPr>
          <a:lstStyle/>
          <a:p>
            <a:r>
              <a:rPr lang="en-IN" sz="4400" i="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6333321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77</TotalTime>
  <Words>677</Words>
  <Application>Microsoft Office PowerPoint</Application>
  <PresentationFormat>Widescreen</PresentationFormat>
  <Paragraphs>85</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Bookman Old Style</vt:lpstr>
      <vt:lpstr>Rockwell</vt:lpstr>
      <vt:lpstr>Times New Roman</vt:lpstr>
      <vt:lpstr>Wingdings</vt:lpstr>
      <vt:lpstr>Damask</vt:lpstr>
      <vt:lpstr>Capstone project real world business analysis</vt:lpstr>
      <vt:lpstr>Problem statement</vt:lpstr>
      <vt:lpstr>Business impact</vt:lpstr>
      <vt:lpstr>Project objectives</vt:lpstr>
      <vt:lpstr>Dataset overview</vt:lpstr>
      <vt:lpstr>EDA – Churn Distribution</vt:lpstr>
      <vt:lpstr>EDA – Tenure vs Churn</vt:lpstr>
      <vt:lpstr>EDA – Contract Type Impact</vt:lpstr>
      <vt:lpstr>EDA – Monthly Charges Impact</vt:lpstr>
      <vt:lpstr>Key Insights</vt:lpstr>
      <vt:lpstr>Modelling Approach</vt:lpstr>
      <vt:lpstr>Model Performance</vt:lpstr>
      <vt:lpstr>Revenue Impact Analysis</vt:lpstr>
      <vt:lpstr>Recommendations</vt:lpstr>
      <vt:lpstr>ROI &amp; Implementation Plan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Dhanashree Tankar</dc:creator>
  <cp:lastModifiedBy>Dhanashree Tankar</cp:lastModifiedBy>
  <cp:revision>9</cp:revision>
  <dcterms:created xsi:type="dcterms:W3CDTF">2026-02-28T09:28:33Z</dcterms:created>
  <dcterms:modified xsi:type="dcterms:W3CDTF">2026-03-03T19:28:08Z</dcterms:modified>
</cp:coreProperties>
</file>
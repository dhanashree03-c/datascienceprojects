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4" r:id="rId3"/>
    <p:sldId id="258" r:id="rId4"/>
    <p:sldId id="260" r:id="rId5"/>
    <p:sldId id="259" r:id="rId6"/>
    <p:sldId id="261" r:id="rId7"/>
    <p:sldId id="262" r:id="rId8"/>
    <p:sldId id="263" r:id="rId9"/>
    <p:sldId id="264" r:id="rId10"/>
    <p:sldId id="265" r:id="rId11"/>
    <p:sldId id="275" r:id="rId12"/>
    <p:sldId id="276" r:id="rId13"/>
    <p:sldId id="266" r:id="rId14"/>
    <p:sldId id="267" r:id="rId15"/>
    <p:sldId id="268" r:id="rId16"/>
    <p:sldId id="277" r:id="rId17"/>
    <p:sldId id="271" r:id="rId18"/>
    <p:sldId id="269" r:id="rId19"/>
    <p:sldId id="270" r:id="rId20"/>
    <p:sldId id="272"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626728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3432034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7920B6-8284-484A-B568-D43B9C918086}" type="datetimeFigureOut">
              <a:rPr lang="en-IN" smtClean="0"/>
              <a:t>03-04-2026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1281571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2428414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7920B6-8284-484A-B568-D43B9C918086}" type="datetimeFigureOut">
              <a:rPr lang="en-IN" smtClean="0"/>
              <a:t>03-04-2026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007204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7920B6-8284-484A-B568-D43B9C918086}" type="datetimeFigureOut">
              <a:rPr lang="en-IN" smtClean="0"/>
              <a:t>03-04-2026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03685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7920B6-8284-484A-B568-D43B9C918086}" type="datetimeFigureOut">
              <a:rPr lang="en-IN" smtClean="0"/>
              <a:t>03-04-2026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107586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1110995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2427643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100155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3972196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71798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7920B6-8284-484A-B568-D43B9C918086}" type="datetimeFigureOut">
              <a:rPr lang="en-IN" smtClean="0"/>
              <a:t>03-04-2026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2683304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7920B6-8284-484A-B568-D43B9C918086}" type="datetimeFigureOut">
              <a:rPr lang="en-IN" smtClean="0"/>
              <a:t>03-04-2026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87399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7920B6-8284-484A-B568-D43B9C918086}" type="datetimeFigureOut">
              <a:rPr lang="en-IN" smtClean="0"/>
              <a:t>03-04-2026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487722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382777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7920B6-8284-484A-B568-D43B9C918086}" type="datetimeFigureOut">
              <a:rPr lang="en-IN" smtClean="0"/>
              <a:t>03-04-2026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97D83-36A5-4992-AF56-697F810FD295}" type="slidenum">
              <a:rPr lang="en-IN" smtClean="0"/>
              <a:t>‹#›</a:t>
            </a:fld>
            <a:endParaRPr lang="en-IN"/>
          </a:p>
        </p:txBody>
      </p:sp>
    </p:spTree>
    <p:extLst>
      <p:ext uri="{BB962C8B-B14F-4D97-AF65-F5344CB8AC3E}">
        <p14:creationId xmlns:p14="http://schemas.microsoft.com/office/powerpoint/2010/main" val="262236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7920B6-8284-484A-B568-D43B9C918086}" type="datetimeFigureOut">
              <a:rPr lang="en-IN" smtClean="0"/>
              <a:t>03-04-2026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3397D83-36A5-4992-AF56-697F810FD295}" type="slidenum">
              <a:rPr lang="en-IN" smtClean="0"/>
              <a:t>‹#›</a:t>
            </a:fld>
            <a:endParaRPr lang="en-IN"/>
          </a:p>
        </p:txBody>
      </p:sp>
    </p:spTree>
    <p:extLst>
      <p:ext uri="{BB962C8B-B14F-4D97-AF65-F5344CB8AC3E}">
        <p14:creationId xmlns:p14="http://schemas.microsoft.com/office/powerpoint/2010/main" val="38686676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5D5A7-04FA-AC2E-EAE1-1195B78AF4A8}"/>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Capstone project</a:t>
            </a:r>
          </a:p>
        </p:txBody>
      </p:sp>
      <p:sp>
        <p:nvSpPr>
          <p:cNvPr id="3" name="Content Placeholder 2">
            <a:extLst>
              <a:ext uri="{FF2B5EF4-FFF2-40B4-BE49-F238E27FC236}">
                <a16:creationId xmlns:a16="http://schemas.microsoft.com/office/drawing/2014/main" id="{C7B9610B-7B44-8335-9232-7CC4B0680D9A}"/>
              </a:ext>
            </a:extLst>
          </p:cNvPr>
          <p:cNvSpPr>
            <a:spLocks noGrp="1"/>
          </p:cNvSpPr>
          <p:nvPr>
            <p:ph idx="1"/>
          </p:nvPr>
        </p:nvSpPr>
        <p:spPr>
          <a:xfrm>
            <a:off x="913795" y="2096064"/>
            <a:ext cx="10353762" cy="1063696"/>
          </a:xfrm>
        </p:spPr>
        <p:txBody>
          <a:bodyPr/>
          <a:lstStyle/>
          <a:p>
            <a:pPr marL="0" indent="0">
              <a:buNone/>
            </a:pPr>
            <a:r>
              <a:rPr lang="en-US" b="1" dirty="0">
                <a:effectLst/>
                <a:latin typeface="Times New Roman" panose="02020603050405020304" pitchFamily="18" charset="0"/>
                <a:cs typeface="Times New Roman" panose="02020603050405020304" pitchFamily="18" charset="0"/>
              </a:rPr>
              <a:t>Customer Churn Prediction System</a:t>
            </a:r>
            <a:br>
              <a:rPr lang="en-US" dirty="0">
                <a:effectLst/>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End-to-End Data Science Capstone Project</a:t>
            </a:r>
            <a:endParaRPr lang="en-IN" dirty="0">
              <a:effectLst/>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C0196054-4956-0049-9725-25139EF2232A}"/>
              </a:ext>
            </a:extLst>
          </p:cNvPr>
          <p:cNvSpPr txBox="1">
            <a:spLocks/>
          </p:cNvSpPr>
          <p:nvPr/>
        </p:nvSpPr>
        <p:spPr>
          <a:xfrm>
            <a:off x="913795" y="3319903"/>
            <a:ext cx="3851188" cy="9347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Font typeface="Arial" panose="020B0604020202020204" pitchFamily="34" charset="0"/>
              <a:buNone/>
            </a:pPr>
            <a:r>
              <a:rPr lang="en-US" b="1" dirty="0">
                <a:effectLst/>
                <a:latin typeface="Times New Roman" panose="02020603050405020304" pitchFamily="18" charset="0"/>
                <a:cs typeface="Times New Roman" panose="02020603050405020304" pitchFamily="18" charset="0"/>
              </a:rPr>
              <a:t>Author: </a:t>
            </a:r>
            <a:r>
              <a:rPr lang="en-US" dirty="0">
                <a:effectLst/>
                <a:latin typeface="Times New Roman" panose="02020603050405020304" pitchFamily="18" charset="0"/>
                <a:cs typeface="Times New Roman" panose="02020603050405020304" pitchFamily="18" charset="0"/>
              </a:rPr>
              <a:t>Dhanashree Tankar</a:t>
            </a:r>
            <a:endParaRPr lang="en-IN"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549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938163-859F-9AAE-4510-C4B3C1C999F7}"/>
              </a:ext>
            </a:extLst>
          </p:cNvPr>
          <p:cNvSpPr>
            <a:spLocks noGrp="1"/>
          </p:cNvSpPr>
          <p:nvPr>
            <p:ph type="title"/>
          </p:nvPr>
        </p:nvSpPr>
        <p:spPr>
          <a:xfrm>
            <a:off x="913795" y="609601"/>
            <a:ext cx="10353761" cy="701040"/>
          </a:xfrm>
        </p:spPr>
        <p:txBody>
          <a:bodyPr/>
          <a:lstStyle/>
          <a:p>
            <a:pPr algn="l"/>
            <a:r>
              <a:rPr lang="en-IN" dirty="0">
                <a:latin typeface="Times New Roman" panose="02020603050405020304" pitchFamily="18" charset="0"/>
                <a:cs typeface="Times New Roman" panose="02020603050405020304" pitchFamily="18" charset="0"/>
              </a:rPr>
              <a:t>Business problems</a:t>
            </a:r>
          </a:p>
        </p:txBody>
      </p:sp>
      <p:sp>
        <p:nvSpPr>
          <p:cNvPr id="5" name="Content Placeholder 2">
            <a:extLst>
              <a:ext uri="{FF2B5EF4-FFF2-40B4-BE49-F238E27FC236}">
                <a16:creationId xmlns:a16="http://schemas.microsoft.com/office/drawing/2014/main" id="{9FC3E6B7-C883-DC1C-1891-AB3E25ED4781}"/>
              </a:ext>
            </a:extLst>
          </p:cNvPr>
          <p:cNvSpPr>
            <a:spLocks noGrp="1"/>
          </p:cNvSpPr>
          <p:nvPr>
            <p:ph idx="1"/>
          </p:nvPr>
        </p:nvSpPr>
        <p:spPr>
          <a:xfrm>
            <a:off x="924444" y="1310641"/>
            <a:ext cx="10353762" cy="2773679"/>
          </a:xfrm>
        </p:spPr>
        <p:txBody>
          <a:bodyPr>
            <a:norm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Customer churn is a major challenge for subscription-based companies such as telecom providers.</a:t>
            </a:r>
          </a:p>
          <a:p>
            <a:pPr algn="just">
              <a:lnSpc>
                <a:spcPct val="150000"/>
              </a:lnSpc>
            </a:pPr>
            <a:r>
              <a:rPr lang="en-US" sz="1800" b="1" dirty="0">
                <a:effectLst/>
                <a:latin typeface="Times New Roman" panose="02020603050405020304" pitchFamily="18" charset="0"/>
                <a:cs typeface="Times New Roman" panose="02020603050405020304" pitchFamily="18" charset="0"/>
              </a:rPr>
              <a:t>Key Challenges</a:t>
            </a:r>
            <a:endParaRPr lang="en-US" sz="1800" dirty="0">
              <a:effectLst/>
              <a:latin typeface="Times New Roman" panose="02020603050405020304" pitchFamily="18" charset="0"/>
              <a:cs typeface="Times New Roman" panose="02020603050405020304" pitchFamily="18" charset="0"/>
            </a:endParaRPr>
          </a:p>
          <a:p>
            <a:pPr marL="777875"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Acquiring a new customer is </a:t>
            </a:r>
            <a:r>
              <a:rPr lang="en-US" sz="1800" b="1" dirty="0">
                <a:effectLst/>
                <a:latin typeface="Times New Roman" panose="02020603050405020304" pitchFamily="18" charset="0"/>
                <a:cs typeface="Times New Roman" panose="02020603050405020304" pitchFamily="18" charset="0"/>
              </a:rPr>
              <a:t>5–7x more expensive</a:t>
            </a:r>
            <a:r>
              <a:rPr lang="en-US" sz="1800" dirty="0">
                <a:effectLst/>
                <a:latin typeface="Times New Roman" panose="02020603050405020304" pitchFamily="18" charset="0"/>
                <a:cs typeface="Times New Roman" panose="02020603050405020304" pitchFamily="18" charset="0"/>
              </a:rPr>
              <a:t> than retaining an existing one </a:t>
            </a:r>
          </a:p>
          <a:p>
            <a:pPr marL="777875"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High churn directly impacts </a:t>
            </a:r>
            <a:r>
              <a:rPr lang="en-US" sz="1800" b="1" dirty="0">
                <a:effectLst/>
                <a:latin typeface="Times New Roman" panose="02020603050405020304" pitchFamily="18" charset="0"/>
                <a:cs typeface="Times New Roman" panose="02020603050405020304" pitchFamily="18" charset="0"/>
              </a:rPr>
              <a:t>revenue and customer lifetime value</a:t>
            </a:r>
            <a:r>
              <a:rPr lang="en-US" sz="1800" dirty="0">
                <a:effectLst/>
                <a:latin typeface="Times New Roman" panose="02020603050405020304" pitchFamily="18" charset="0"/>
                <a:cs typeface="Times New Roman" panose="02020603050405020304" pitchFamily="18" charset="0"/>
              </a:rPr>
              <a:t> </a:t>
            </a:r>
          </a:p>
          <a:p>
            <a:pPr marL="777875"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Companies need </a:t>
            </a:r>
            <a:r>
              <a:rPr lang="en-US" sz="1800" b="1" dirty="0">
                <a:effectLst/>
                <a:latin typeface="Times New Roman" panose="02020603050405020304" pitchFamily="18" charset="0"/>
                <a:cs typeface="Times New Roman" panose="02020603050405020304" pitchFamily="18" charset="0"/>
              </a:rPr>
              <a:t>data-driven strategies</a:t>
            </a:r>
            <a:r>
              <a:rPr lang="en-US" sz="1800" dirty="0">
                <a:effectLst/>
                <a:latin typeface="Times New Roman" panose="02020603050405020304" pitchFamily="18" charset="0"/>
                <a:cs typeface="Times New Roman" panose="02020603050405020304" pitchFamily="18" charset="0"/>
              </a:rPr>
              <a:t> to identify customers at risk</a:t>
            </a:r>
          </a:p>
        </p:txBody>
      </p:sp>
      <p:sp>
        <p:nvSpPr>
          <p:cNvPr id="9" name="Content Placeholder 2">
            <a:extLst>
              <a:ext uri="{FF2B5EF4-FFF2-40B4-BE49-F238E27FC236}">
                <a16:creationId xmlns:a16="http://schemas.microsoft.com/office/drawing/2014/main" id="{F5BD9BD5-6D27-37A4-3BA9-3887580383EA}"/>
              </a:ext>
            </a:extLst>
          </p:cNvPr>
          <p:cNvSpPr txBox="1">
            <a:spLocks/>
          </p:cNvSpPr>
          <p:nvPr/>
        </p:nvSpPr>
        <p:spPr>
          <a:xfrm>
            <a:off x="913794" y="3972560"/>
            <a:ext cx="10353762" cy="24079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lgn="just">
              <a:lnSpc>
                <a:spcPct val="150000"/>
              </a:lnSpc>
            </a:pPr>
            <a:r>
              <a:rPr lang="en-US" sz="1800" b="1" dirty="0">
                <a:effectLst/>
                <a:latin typeface="Times New Roman" panose="02020603050405020304" pitchFamily="18" charset="0"/>
                <a:cs typeface="Times New Roman" panose="02020603050405020304" pitchFamily="18" charset="0"/>
              </a:rPr>
              <a:t>Goal of the Project</a:t>
            </a:r>
            <a:endParaRPr lang="en-US" sz="1800" dirty="0">
              <a:effectLst/>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effectLst/>
                <a:latin typeface="Times New Roman" panose="02020603050405020304" pitchFamily="18" charset="0"/>
                <a:cs typeface="Times New Roman" panose="02020603050405020304" pitchFamily="18" charset="0"/>
              </a:rPr>
              <a:t>    Develop a predictive model to:</a:t>
            </a:r>
          </a:p>
          <a:p>
            <a:pPr marL="803275"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Identify customers likely to churn </a:t>
            </a:r>
          </a:p>
          <a:p>
            <a:pPr marL="803275"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Enable proactive retention strategies </a:t>
            </a:r>
          </a:p>
          <a:p>
            <a:pPr marL="803275"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Support data-driven decision making</a:t>
            </a:r>
          </a:p>
        </p:txBody>
      </p:sp>
    </p:spTree>
    <p:extLst>
      <p:ext uri="{BB962C8B-B14F-4D97-AF65-F5344CB8AC3E}">
        <p14:creationId xmlns:p14="http://schemas.microsoft.com/office/powerpoint/2010/main" val="994405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13CB-F8F5-31F2-BE70-E9F2EDAD70C9}"/>
              </a:ext>
            </a:extLst>
          </p:cNvPr>
          <p:cNvSpPr>
            <a:spLocks noGrp="1"/>
          </p:cNvSpPr>
          <p:nvPr>
            <p:ph type="title"/>
          </p:nvPr>
        </p:nvSpPr>
        <p:spPr>
          <a:xfrm>
            <a:off x="913795" y="609601"/>
            <a:ext cx="10353761" cy="589280"/>
          </a:xfrm>
        </p:spPr>
        <p:txBody>
          <a:bodyPr/>
          <a:lstStyle/>
          <a:p>
            <a:pPr algn="l"/>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65ABE12-ED4B-7BA3-C48F-5D7C7D21809A}"/>
              </a:ext>
            </a:extLst>
          </p:cNvPr>
          <p:cNvSpPr>
            <a:spLocks noGrp="1"/>
          </p:cNvSpPr>
          <p:nvPr>
            <p:ph idx="1"/>
          </p:nvPr>
        </p:nvSpPr>
        <p:spPr>
          <a:xfrm>
            <a:off x="924444" y="1198881"/>
            <a:ext cx="10353762" cy="3695136"/>
          </a:xfrm>
        </p:spPr>
        <p:txBody>
          <a:bodyPr>
            <a:normAutofit/>
          </a:bodyPr>
          <a:lstStyle/>
          <a:p>
            <a:pPr marL="0" indent="0" algn="just">
              <a:lnSpc>
                <a:spcPct val="150000"/>
              </a:lnSpc>
              <a:buNone/>
            </a:pPr>
            <a:r>
              <a:rPr lang="en-US" sz="1800" dirty="0">
                <a:effectLst/>
                <a:latin typeface="Times New Roman" panose="02020603050405020304" pitchFamily="18" charset="0"/>
                <a:cs typeface="Times New Roman" panose="02020603050405020304" pitchFamily="18" charset="0"/>
              </a:rPr>
              <a:t>Customer churn is a critical issue for subscription-based businesses, especially in the telecom industry, where acquiring new customers costs significantly more than retaining existing ones. High churn directly impacts revenue and profitability. The challenge is to identify customers who are likely to leave, enabling proactive retention strategies. This project aims to develop a </a:t>
            </a:r>
            <a:r>
              <a:rPr lang="en-US" sz="1800" b="1" dirty="0">
                <a:effectLst/>
                <a:latin typeface="Times New Roman" panose="02020603050405020304" pitchFamily="18" charset="0"/>
                <a:cs typeface="Times New Roman" panose="02020603050405020304" pitchFamily="18" charset="0"/>
              </a:rPr>
              <a:t>predictive machine learning model</a:t>
            </a:r>
            <a:r>
              <a:rPr lang="en-US" sz="1800" dirty="0">
                <a:effectLst/>
                <a:latin typeface="Times New Roman" panose="02020603050405020304" pitchFamily="18" charset="0"/>
                <a:cs typeface="Times New Roman" panose="02020603050405020304" pitchFamily="18" charset="0"/>
              </a:rPr>
              <a:t> that accurately forecasts churn based on customer behavior, subscription details, and demographic data, helping businesses reduce churn and improve customer lifetime value.</a:t>
            </a:r>
            <a:endParaRPr lang="en-IN"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068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89084-0CC7-6A44-FC0A-F74FFA63675C}"/>
              </a:ext>
            </a:extLst>
          </p:cNvPr>
          <p:cNvSpPr>
            <a:spLocks noGrp="1"/>
          </p:cNvSpPr>
          <p:nvPr>
            <p:ph type="title"/>
          </p:nvPr>
        </p:nvSpPr>
        <p:spPr>
          <a:xfrm>
            <a:off x="913795" y="609601"/>
            <a:ext cx="10353761" cy="701040"/>
          </a:xfrm>
        </p:spPr>
        <p:txBody>
          <a:bodyPr/>
          <a:lstStyle/>
          <a:p>
            <a:pPr algn="l"/>
            <a:r>
              <a:rPr lang="en-IN"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BF8C7BBC-B7A0-E19E-8FDC-DA976D8776C1}"/>
              </a:ext>
            </a:extLst>
          </p:cNvPr>
          <p:cNvSpPr>
            <a:spLocks noGrp="1"/>
          </p:cNvSpPr>
          <p:nvPr>
            <p:ph idx="1"/>
          </p:nvPr>
        </p:nvSpPr>
        <p:spPr>
          <a:xfrm>
            <a:off x="924444" y="1310641"/>
            <a:ext cx="10353762" cy="3695136"/>
          </a:xfrm>
        </p:spPr>
        <p:txBody>
          <a:bodyPr>
            <a:normAutofit/>
          </a:bodyPr>
          <a:lstStyle/>
          <a:p>
            <a:pPr>
              <a:lnSpc>
                <a:spcPct val="150000"/>
              </a:lnSpc>
            </a:pPr>
            <a:r>
              <a:rPr lang="en-US" sz="1800" dirty="0">
                <a:effectLst/>
                <a:latin typeface="Times New Roman" panose="02020603050405020304" pitchFamily="18" charset="0"/>
                <a:cs typeface="Times New Roman" panose="02020603050405020304" pitchFamily="18" charset="0"/>
              </a:rPr>
              <a:t>To predict customer churn using behavioral and subscription data. </a:t>
            </a:r>
          </a:p>
          <a:p>
            <a:pPr>
              <a:lnSpc>
                <a:spcPct val="150000"/>
              </a:lnSpc>
            </a:pPr>
            <a:r>
              <a:rPr lang="en-US" sz="1800" dirty="0">
                <a:effectLst/>
                <a:latin typeface="Times New Roman" panose="02020603050405020304" pitchFamily="18" charset="0"/>
                <a:cs typeface="Times New Roman" panose="02020603050405020304" pitchFamily="18" charset="0"/>
              </a:rPr>
              <a:t>To identify high-risk customers for proactive retention. </a:t>
            </a:r>
          </a:p>
          <a:p>
            <a:pPr>
              <a:lnSpc>
                <a:spcPct val="150000"/>
              </a:lnSpc>
            </a:pPr>
            <a:r>
              <a:rPr lang="en-US" sz="1800" dirty="0">
                <a:effectLst/>
                <a:latin typeface="Times New Roman" panose="02020603050405020304" pitchFamily="18" charset="0"/>
                <a:cs typeface="Times New Roman" panose="02020603050405020304" pitchFamily="18" charset="0"/>
              </a:rPr>
              <a:t>To analyze key factors influencing churn patterns. </a:t>
            </a:r>
          </a:p>
          <a:p>
            <a:pPr>
              <a:lnSpc>
                <a:spcPct val="150000"/>
              </a:lnSpc>
            </a:pPr>
            <a:r>
              <a:rPr lang="en-US" sz="1800" dirty="0">
                <a:effectLst/>
                <a:latin typeface="Times New Roman" panose="02020603050405020304" pitchFamily="18" charset="0"/>
                <a:cs typeface="Times New Roman" panose="02020603050405020304" pitchFamily="18" charset="0"/>
              </a:rPr>
              <a:t>To develop a robust, high-accuracy machine learning model. </a:t>
            </a:r>
          </a:p>
          <a:p>
            <a:pPr>
              <a:lnSpc>
                <a:spcPct val="150000"/>
              </a:lnSpc>
            </a:pPr>
            <a:r>
              <a:rPr lang="en-US" sz="1800" dirty="0">
                <a:effectLst/>
                <a:latin typeface="Times New Roman" panose="02020603050405020304" pitchFamily="18" charset="0"/>
                <a:cs typeface="Times New Roman" panose="02020603050405020304" pitchFamily="18" charset="0"/>
              </a:rPr>
              <a:t>To provide actionable insights for business decision-making.</a:t>
            </a:r>
          </a:p>
        </p:txBody>
      </p:sp>
    </p:spTree>
    <p:extLst>
      <p:ext uri="{BB962C8B-B14F-4D97-AF65-F5344CB8AC3E}">
        <p14:creationId xmlns:p14="http://schemas.microsoft.com/office/powerpoint/2010/main" val="2642312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E904-DDDD-ADAF-7C2A-A91356FC1CAA}"/>
              </a:ext>
            </a:extLst>
          </p:cNvPr>
          <p:cNvSpPr>
            <a:spLocks noGrp="1"/>
          </p:cNvSpPr>
          <p:nvPr>
            <p:ph type="title"/>
          </p:nvPr>
        </p:nvSpPr>
        <p:spPr>
          <a:xfrm>
            <a:off x="913795" y="609601"/>
            <a:ext cx="10353761" cy="568960"/>
          </a:xfrm>
        </p:spPr>
        <p:txBody>
          <a:bodyPr/>
          <a:lstStyle/>
          <a:p>
            <a:pPr algn="l"/>
            <a:r>
              <a:rPr lang="en-IN" dirty="0">
                <a:latin typeface="Times New Roman" panose="02020603050405020304" pitchFamily="18" charset="0"/>
                <a:cs typeface="Times New Roman" panose="02020603050405020304" pitchFamily="18" charset="0"/>
              </a:rPr>
              <a:t>Business impact</a:t>
            </a:r>
          </a:p>
        </p:txBody>
      </p:sp>
      <p:sp>
        <p:nvSpPr>
          <p:cNvPr id="3" name="Content Placeholder 2">
            <a:extLst>
              <a:ext uri="{FF2B5EF4-FFF2-40B4-BE49-F238E27FC236}">
                <a16:creationId xmlns:a16="http://schemas.microsoft.com/office/drawing/2014/main" id="{35C9B0D2-7876-8235-2055-36BCB33E5A94}"/>
              </a:ext>
            </a:extLst>
          </p:cNvPr>
          <p:cNvSpPr>
            <a:spLocks noGrp="1"/>
          </p:cNvSpPr>
          <p:nvPr>
            <p:ph idx="1"/>
          </p:nvPr>
        </p:nvSpPr>
        <p:spPr>
          <a:xfrm>
            <a:off x="924444" y="1178561"/>
            <a:ext cx="10353762" cy="3695136"/>
          </a:xfrm>
        </p:spPr>
        <p:txBody>
          <a:bodyPr>
            <a:noAutofit/>
          </a:bodyPr>
          <a:lstStyle/>
          <a:p>
            <a:pPr algn="just">
              <a:lnSpc>
                <a:spcPct val="150000"/>
              </a:lnSpc>
            </a:pPr>
            <a:r>
              <a:rPr lang="en-US" sz="1800" b="1" dirty="0">
                <a:effectLst/>
                <a:latin typeface="Times New Roman" panose="02020603050405020304" pitchFamily="18" charset="0"/>
                <a:cs typeface="Times New Roman" panose="02020603050405020304" pitchFamily="18" charset="0"/>
              </a:rPr>
              <a:t>Revenue Protection:</a:t>
            </a:r>
            <a:r>
              <a:rPr lang="en-US" sz="1800" dirty="0">
                <a:effectLst/>
                <a:latin typeface="Times New Roman" panose="02020603050405020304" pitchFamily="18" charset="0"/>
                <a:cs typeface="Times New Roman" panose="02020603050405020304" pitchFamily="18" charset="0"/>
              </a:rPr>
              <a:t> Identifying high-risk customers early helps reduce potential revenue loss from churn. </a:t>
            </a:r>
          </a:p>
          <a:p>
            <a:pPr algn="just">
              <a:lnSpc>
                <a:spcPct val="150000"/>
              </a:lnSpc>
            </a:pPr>
            <a:r>
              <a:rPr lang="en-US" sz="1800" b="1" dirty="0">
                <a:effectLst/>
                <a:latin typeface="Times New Roman" panose="02020603050405020304" pitchFamily="18" charset="0"/>
                <a:cs typeface="Times New Roman" panose="02020603050405020304" pitchFamily="18" charset="0"/>
              </a:rPr>
              <a:t>Targeted Retention:</a:t>
            </a:r>
            <a:r>
              <a:rPr lang="en-US" sz="1800" dirty="0">
                <a:effectLst/>
                <a:latin typeface="Times New Roman" panose="02020603050405020304" pitchFamily="18" charset="0"/>
                <a:cs typeface="Times New Roman" panose="02020603050405020304" pitchFamily="18" charset="0"/>
              </a:rPr>
              <a:t> Enables personalized retention campaigns for customers with high churn probability (&gt;80%). </a:t>
            </a:r>
          </a:p>
          <a:p>
            <a:pPr algn="just">
              <a:lnSpc>
                <a:spcPct val="150000"/>
              </a:lnSpc>
            </a:pPr>
            <a:r>
              <a:rPr lang="en-US" sz="1800" b="1" dirty="0">
                <a:effectLst/>
                <a:latin typeface="Times New Roman" panose="02020603050405020304" pitchFamily="18" charset="0"/>
                <a:cs typeface="Times New Roman" panose="02020603050405020304" pitchFamily="18" charset="0"/>
              </a:rPr>
              <a:t>Cost Efficiency:</a:t>
            </a:r>
            <a:r>
              <a:rPr lang="en-US" sz="1800" dirty="0">
                <a:effectLst/>
                <a:latin typeface="Times New Roman" panose="02020603050405020304" pitchFamily="18" charset="0"/>
                <a:cs typeface="Times New Roman" panose="02020603050405020304" pitchFamily="18" charset="0"/>
              </a:rPr>
              <a:t> Reduces spending on acquiring new customers by focusing on retention of existing ones. </a:t>
            </a:r>
          </a:p>
          <a:p>
            <a:pPr algn="just">
              <a:lnSpc>
                <a:spcPct val="150000"/>
              </a:lnSpc>
            </a:pPr>
            <a:r>
              <a:rPr lang="en-US" sz="1800" b="1" dirty="0">
                <a:effectLst/>
                <a:latin typeface="Times New Roman" panose="02020603050405020304" pitchFamily="18" charset="0"/>
                <a:cs typeface="Times New Roman" panose="02020603050405020304" pitchFamily="18" charset="0"/>
              </a:rPr>
              <a:t>Data-Driven Decisions:</a:t>
            </a:r>
            <a:r>
              <a:rPr lang="en-US" sz="1800" dirty="0">
                <a:effectLst/>
                <a:latin typeface="Times New Roman" panose="02020603050405020304" pitchFamily="18" charset="0"/>
                <a:cs typeface="Times New Roman" panose="02020603050405020304" pitchFamily="18" charset="0"/>
              </a:rPr>
              <a:t> Supports strategic business decisions with actionable insights from churn predictions. </a:t>
            </a:r>
          </a:p>
          <a:p>
            <a:pPr algn="just">
              <a:lnSpc>
                <a:spcPct val="150000"/>
              </a:lnSpc>
            </a:pPr>
            <a:r>
              <a:rPr lang="en-US" sz="1800" b="1" dirty="0">
                <a:effectLst/>
                <a:latin typeface="Times New Roman" panose="02020603050405020304" pitchFamily="18" charset="0"/>
                <a:cs typeface="Times New Roman" panose="02020603050405020304" pitchFamily="18" charset="0"/>
              </a:rPr>
              <a:t>Customer Loyalty:</a:t>
            </a:r>
            <a:r>
              <a:rPr lang="en-US" sz="1800" dirty="0">
                <a:effectLst/>
                <a:latin typeface="Times New Roman" panose="02020603050405020304" pitchFamily="18" charset="0"/>
                <a:cs typeface="Times New Roman" panose="02020603050405020304" pitchFamily="18" charset="0"/>
              </a:rPr>
              <a:t> Encourages long-term contracts and engagement, improving lifetime value. </a:t>
            </a:r>
          </a:p>
          <a:p>
            <a:pPr algn="just">
              <a:lnSpc>
                <a:spcPct val="150000"/>
              </a:lnSpc>
            </a:pPr>
            <a:r>
              <a:rPr lang="en-US" sz="1800" b="1" dirty="0">
                <a:effectLst/>
                <a:latin typeface="Times New Roman" panose="02020603050405020304" pitchFamily="18" charset="0"/>
                <a:cs typeface="Times New Roman" panose="02020603050405020304" pitchFamily="18" charset="0"/>
              </a:rPr>
              <a:t>Operational Optimization:</a:t>
            </a:r>
            <a:r>
              <a:rPr lang="en-US" sz="1800" dirty="0">
                <a:effectLst/>
                <a:latin typeface="Times New Roman" panose="02020603050405020304" pitchFamily="18" charset="0"/>
                <a:cs typeface="Times New Roman" panose="02020603050405020304" pitchFamily="18" charset="0"/>
              </a:rPr>
              <a:t> Prioritizes customer segments for marketing, support, and loyalty programs effectively.</a:t>
            </a:r>
          </a:p>
        </p:txBody>
      </p:sp>
    </p:spTree>
    <p:extLst>
      <p:ext uri="{BB962C8B-B14F-4D97-AF65-F5344CB8AC3E}">
        <p14:creationId xmlns:p14="http://schemas.microsoft.com/office/powerpoint/2010/main" val="197266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0829-837D-7720-9148-9F9DDEC59CE2}"/>
              </a:ext>
            </a:extLst>
          </p:cNvPr>
          <p:cNvSpPr>
            <a:spLocks noGrp="1"/>
          </p:cNvSpPr>
          <p:nvPr>
            <p:ph type="title"/>
          </p:nvPr>
        </p:nvSpPr>
        <p:spPr>
          <a:xfrm>
            <a:off x="913795" y="609601"/>
            <a:ext cx="10353761" cy="711200"/>
          </a:xfrm>
        </p:spPr>
        <p:txBody>
          <a:bodyPr/>
          <a:lstStyle/>
          <a:p>
            <a:pPr algn="l"/>
            <a:r>
              <a:rPr lang="en-IN"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015BC180-B9BC-7A56-4154-E6117DD2BAC9}"/>
              </a:ext>
            </a:extLst>
          </p:cNvPr>
          <p:cNvSpPr>
            <a:spLocks noGrp="1"/>
          </p:cNvSpPr>
          <p:nvPr>
            <p:ph idx="1"/>
          </p:nvPr>
        </p:nvSpPr>
        <p:spPr>
          <a:xfrm>
            <a:off x="924444" y="1320801"/>
            <a:ext cx="10353762" cy="4528256"/>
          </a:xfrm>
        </p:spPr>
        <p:txBody>
          <a:bodyPr>
            <a:noAutofit/>
          </a:bodyPr>
          <a:lstStyle/>
          <a:p>
            <a:pPr>
              <a:lnSpc>
                <a:spcPct val="150000"/>
              </a:lnSpc>
            </a:pPr>
            <a:r>
              <a:rPr lang="en-US" sz="1800" dirty="0">
                <a:effectLst/>
                <a:latin typeface="Times New Roman" panose="02020603050405020304" pitchFamily="18" charset="0"/>
                <a:cs typeface="Times New Roman" panose="02020603050405020304" pitchFamily="18" charset="0"/>
              </a:rPr>
              <a:t>500 customers with billing &amp; behavioral data </a:t>
            </a:r>
          </a:p>
          <a:p>
            <a:pPr>
              <a:lnSpc>
                <a:spcPct val="150000"/>
              </a:lnSpc>
            </a:pPr>
            <a:r>
              <a:rPr lang="en-US" sz="1800" b="1" dirty="0">
                <a:effectLst/>
                <a:latin typeface="Times New Roman" panose="02020603050405020304" pitchFamily="18" charset="0"/>
                <a:cs typeface="Times New Roman" panose="02020603050405020304" pitchFamily="18" charset="0"/>
              </a:rPr>
              <a:t>Features</a:t>
            </a:r>
            <a:endParaRPr lang="en-US" sz="1800" dirty="0">
              <a:effectLst/>
              <a:latin typeface="Times New Roman" panose="02020603050405020304" pitchFamily="18" charset="0"/>
              <a:cs typeface="Times New Roman" panose="02020603050405020304" pitchFamily="18" charset="0"/>
            </a:endParaRPr>
          </a:p>
          <a:p>
            <a:pPr marL="823913"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Tenure, </a:t>
            </a:r>
            <a:r>
              <a:rPr lang="en-US" sz="1800" dirty="0" err="1">
                <a:effectLst/>
                <a:latin typeface="Times New Roman" panose="02020603050405020304" pitchFamily="18" charset="0"/>
                <a:cs typeface="Times New Roman" panose="02020603050405020304" pitchFamily="18" charset="0"/>
              </a:rPr>
              <a:t>MonthlyCharges</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TotalCharges</a:t>
            </a:r>
            <a:r>
              <a:rPr lang="en-US" sz="1800" dirty="0">
                <a:effectLst/>
                <a:latin typeface="Times New Roman" panose="02020603050405020304" pitchFamily="18" charset="0"/>
                <a:cs typeface="Times New Roman" panose="02020603050405020304" pitchFamily="18" charset="0"/>
              </a:rPr>
              <a:t> </a:t>
            </a:r>
          </a:p>
          <a:p>
            <a:pPr marL="823913"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Contract Type, Payment Method, Paperless Billing </a:t>
            </a:r>
          </a:p>
          <a:p>
            <a:pPr marL="823913" indent="-285750">
              <a:lnSpc>
                <a:spcPct val="150000"/>
              </a:lnSpc>
              <a:buFont typeface="Wingdings" panose="05000000000000000000" pitchFamily="2" charset="2"/>
              <a:buChar char="Ø"/>
            </a:pPr>
            <a:r>
              <a:rPr lang="en-US" sz="1800" dirty="0" err="1">
                <a:effectLst/>
                <a:latin typeface="Times New Roman" panose="02020603050405020304" pitchFamily="18" charset="0"/>
                <a:cs typeface="Times New Roman" panose="02020603050405020304" pitchFamily="18" charset="0"/>
              </a:rPr>
              <a:t>SeniorCitizen</a:t>
            </a:r>
            <a:r>
              <a:rPr lang="en-US" sz="1800" dirty="0">
                <a:effectLst/>
                <a:latin typeface="Times New Roman" panose="02020603050405020304" pitchFamily="18" charset="0"/>
                <a:cs typeface="Times New Roman" panose="02020603050405020304" pitchFamily="18" charset="0"/>
              </a:rPr>
              <a:t> </a:t>
            </a:r>
          </a:p>
          <a:p>
            <a:pPr>
              <a:lnSpc>
                <a:spcPct val="150000"/>
              </a:lnSpc>
            </a:pPr>
            <a:r>
              <a:rPr lang="en-US" sz="1800" b="1" dirty="0">
                <a:effectLst/>
                <a:latin typeface="Times New Roman" panose="02020603050405020304" pitchFamily="18" charset="0"/>
                <a:cs typeface="Times New Roman" panose="02020603050405020304" pitchFamily="18" charset="0"/>
              </a:rPr>
              <a:t>Target</a:t>
            </a:r>
            <a:endParaRPr lang="en-US" sz="1800" dirty="0">
              <a:effectLst/>
              <a:latin typeface="Times New Roman" panose="02020603050405020304" pitchFamily="18" charset="0"/>
              <a:cs typeface="Times New Roman" panose="02020603050405020304" pitchFamily="18" charset="0"/>
            </a:endParaRPr>
          </a:p>
          <a:p>
            <a:pPr marL="0" indent="0">
              <a:lnSpc>
                <a:spcPct val="150000"/>
              </a:lnSpc>
              <a:buNone/>
            </a:pPr>
            <a:r>
              <a:rPr lang="en-US" sz="1800" b="1" dirty="0">
                <a:effectLst/>
                <a:latin typeface="Times New Roman" panose="02020603050405020304" pitchFamily="18" charset="0"/>
                <a:cs typeface="Times New Roman" panose="02020603050405020304" pitchFamily="18" charset="0"/>
              </a:rPr>
              <a:t>     Churn</a:t>
            </a:r>
            <a:r>
              <a:rPr lang="en-US" sz="1800" dirty="0">
                <a:effectLst/>
                <a:latin typeface="Times New Roman" panose="02020603050405020304" pitchFamily="18" charset="0"/>
                <a:cs typeface="Times New Roman" panose="02020603050405020304" pitchFamily="18" charset="0"/>
              </a:rPr>
              <a:t>: 1 = leaves, 0 = stays </a:t>
            </a:r>
          </a:p>
        </p:txBody>
      </p:sp>
    </p:spTree>
    <p:extLst>
      <p:ext uri="{BB962C8B-B14F-4D97-AF65-F5344CB8AC3E}">
        <p14:creationId xmlns:p14="http://schemas.microsoft.com/office/powerpoint/2010/main" val="1695355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5666-3851-9453-A303-34A9B63675C8}"/>
              </a:ext>
            </a:extLst>
          </p:cNvPr>
          <p:cNvSpPr>
            <a:spLocks noGrp="1"/>
          </p:cNvSpPr>
          <p:nvPr>
            <p:ph type="title"/>
          </p:nvPr>
        </p:nvSpPr>
        <p:spPr>
          <a:xfrm>
            <a:off x="913795" y="609601"/>
            <a:ext cx="10353761" cy="660400"/>
          </a:xfrm>
        </p:spPr>
        <p:txBody>
          <a:bodyPr/>
          <a:lstStyle/>
          <a:p>
            <a:pPr algn="l"/>
            <a:r>
              <a:rPr lang="en-IN" dirty="0">
                <a:latin typeface="Times New Roman" panose="02020603050405020304" pitchFamily="18" charset="0"/>
                <a:cs typeface="Times New Roman" panose="02020603050405020304" pitchFamily="18" charset="0"/>
              </a:rPr>
              <a:t>EDA – Churn Distribution</a:t>
            </a:r>
          </a:p>
        </p:txBody>
      </p:sp>
      <p:sp>
        <p:nvSpPr>
          <p:cNvPr id="3" name="Content Placeholder 2">
            <a:extLst>
              <a:ext uri="{FF2B5EF4-FFF2-40B4-BE49-F238E27FC236}">
                <a16:creationId xmlns:a16="http://schemas.microsoft.com/office/drawing/2014/main" id="{3D089BED-0988-7AAA-FB15-21B0A0A975B3}"/>
              </a:ext>
            </a:extLst>
          </p:cNvPr>
          <p:cNvSpPr>
            <a:spLocks noGrp="1"/>
          </p:cNvSpPr>
          <p:nvPr>
            <p:ph idx="1"/>
          </p:nvPr>
        </p:nvSpPr>
        <p:spPr>
          <a:xfrm>
            <a:off x="913795" y="1424818"/>
            <a:ext cx="5334116" cy="3695136"/>
          </a:xfrm>
        </p:spPr>
        <p:txBody>
          <a:bodyPr>
            <a:norm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Majority of customers do not churn; churn rate is relatively low. </a:t>
            </a:r>
          </a:p>
          <a:p>
            <a:pPr algn="just">
              <a:lnSpc>
                <a:spcPct val="150000"/>
              </a:lnSpc>
            </a:pPr>
            <a:r>
              <a:rPr lang="en-US" sz="1800" dirty="0">
                <a:effectLst/>
                <a:latin typeface="Times New Roman" panose="02020603050405020304" pitchFamily="18" charset="0"/>
                <a:cs typeface="Times New Roman" panose="02020603050405020304" pitchFamily="18" charset="0"/>
              </a:rPr>
              <a:t>Churn is an imbalanced class (small proportion of 1s), so models should handle class imbalance. </a:t>
            </a:r>
          </a:p>
          <a:p>
            <a:pPr algn="just">
              <a:lnSpc>
                <a:spcPct val="150000"/>
              </a:lnSpc>
            </a:pPr>
            <a:r>
              <a:rPr lang="en-US" sz="1800" dirty="0">
                <a:effectLst/>
                <a:latin typeface="Times New Roman" panose="02020603050405020304" pitchFamily="18" charset="0"/>
                <a:cs typeface="Times New Roman" panose="02020603050405020304" pitchFamily="18" charset="0"/>
              </a:rPr>
              <a:t>Focused retention efforts are required for the small high-risk group.</a:t>
            </a:r>
          </a:p>
        </p:txBody>
      </p:sp>
      <p:pic>
        <p:nvPicPr>
          <p:cNvPr id="6" name="Picture 5">
            <a:extLst>
              <a:ext uri="{FF2B5EF4-FFF2-40B4-BE49-F238E27FC236}">
                <a16:creationId xmlns:a16="http://schemas.microsoft.com/office/drawing/2014/main" id="{C61F879A-5403-AE92-879E-F3C1B7C61F6B}"/>
              </a:ext>
            </a:extLst>
          </p:cNvPr>
          <p:cNvPicPr>
            <a:picLocks noChangeAspect="1"/>
          </p:cNvPicPr>
          <p:nvPr/>
        </p:nvPicPr>
        <p:blipFill>
          <a:blip r:embed="rId2"/>
          <a:stretch>
            <a:fillRect/>
          </a:stretch>
        </p:blipFill>
        <p:spPr>
          <a:xfrm>
            <a:off x="6350181" y="1635761"/>
            <a:ext cx="5033130" cy="3484194"/>
          </a:xfrm>
          <a:prstGeom prst="rect">
            <a:avLst/>
          </a:prstGeom>
        </p:spPr>
      </p:pic>
    </p:spTree>
    <p:extLst>
      <p:ext uri="{BB962C8B-B14F-4D97-AF65-F5344CB8AC3E}">
        <p14:creationId xmlns:p14="http://schemas.microsoft.com/office/powerpoint/2010/main" val="3190466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E7807-4AA8-467D-9F31-E56FB231D618}"/>
              </a:ext>
            </a:extLst>
          </p:cNvPr>
          <p:cNvSpPr>
            <a:spLocks noGrp="1"/>
          </p:cNvSpPr>
          <p:nvPr>
            <p:ph type="title"/>
          </p:nvPr>
        </p:nvSpPr>
        <p:spPr>
          <a:xfrm>
            <a:off x="913795" y="609601"/>
            <a:ext cx="10353761" cy="670560"/>
          </a:xfrm>
        </p:spPr>
        <p:txBody>
          <a:bodyPr/>
          <a:lstStyle/>
          <a:p>
            <a:pPr algn="l"/>
            <a:r>
              <a:rPr lang="en-IN" dirty="0">
                <a:latin typeface="Times New Roman" panose="02020603050405020304" pitchFamily="18" charset="0"/>
                <a:cs typeface="Times New Roman" panose="02020603050405020304" pitchFamily="18" charset="0"/>
              </a:rPr>
              <a:t>EDA – Tenure vs Churn</a:t>
            </a:r>
          </a:p>
        </p:txBody>
      </p:sp>
      <p:sp>
        <p:nvSpPr>
          <p:cNvPr id="3" name="Content Placeholder 2">
            <a:extLst>
              <a:ext uri="{FF2B5EF4-FFF2-40B4-BE49-F238E27FC236}">
                <a16:creationId xmlns:a16="http://schemas.microsoft.com/office/drawing/2014/main" id="{3533BD28-6850-CECD-79C5-18667078D8C8}"/>
              </a:ext>
            </a:extLst>
          </p:cNvPr>
          <p:cNvSpPr>
            <a:spLocks noGrp="1"/>
          </p:cNvSpPr>
          <p:nvPr>
            <p:ph idx="1"/>
          </p:nvPr>
        </p:nvSpPr>
        <p:spPr>
          <a:xfrm>
            <a:off x="913795" y="1410019"/>
            <a:ext cx="5171556" cy="3695136"/>
          </a:xfrm>
        </p:spPr>
        <p:txBody>
          <a:bodyPr>
            <a:norm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Customers with short tenure churn more frequently. </a:t>
            </a:r>
          </a:p>
          <a:p>
            <a:pPr algn="just">
              <a:lnSpc>
                <a:spcPct val="150000"/>
              </a:lnSpc>
            </a:pPr>
            <a:r>
              <a:rPr lang="en-US" sz="1800" dirty="0">
                <a:effectLst/>
                <a:latin typeface="Times New Roman" panose="02020603050405020304" pitchFamily="18" charset="0"/>
                <a:cs typeface="Times New Roman" panose="02020603050405020304" pitchFamily="18" charset="0"/>
              </a:rPr>
              <a:t>Long-tenure customers are highly loyal with minimal churn. </a:t>
            </a:r>
          </a:p>
          <a:p>
            <a:pPr algn="just">
              <a:lnSpc>
                <a:spcPct val="150000"/>
              </a:lnSpc>
            </a:pPr>
            <a:r>
              <a:rPr lang="en-US" sz="1800" dirty="0">
                <a:effectLst/>
                <a:latin typeface="Times New Roman" panose="02020603050405020304" pitchFamily="18" charset="0"/>
                <a:cs typeface="Times New Roman" panose="02020603050405020304" pitchFamily="18" charset="0"/>
              </a:rPr>
              <a:t>Early engagement programs are crucial for first few months.</a:t>
            </a:r>
          </a:p>
        </p:txBody>
      </p:sp>
      <p:pic>
        <p:nvPicPr>
          <p:cNvPr id="6" name="Picture 5">
            <a:extLst>
              <a:ext uri="{FF2B5EF4-FFF2-40B4-BE49-F238E27FC236}">
                <a16:creationId xmlns:a16="http://schemas.microsoft.com/office/drawing/2014/main" id="{FE767D98-C6FB-EB3F-A584-20FDA2034CDB}"/>
              </a:ext>
            </a:extLst>
          </p:cNvPr>
          <p:cNvPicPr>
            <a:picLocks noChangeAspect="1"/>
          </p:cNvPicPr>
          <p:nvPr/>
        </p:nvPicPr>
        <p:blipFill>
          <a:blip r:embed="rId2"/>
          <a:stretch>
            <a:fillRect/>
          </a:stretch>
        </p:blipFill>
        <p:spPr>
          <a:xfrm>
            <a:off x="6235775" y="1648533"/>
            <a:ext cx="5042430" cy="3456622"/>
          </a:xfrm>
          <a:prstGeom prst="rect">
            <a:avLst/>
          </a:prstGeom>
        </p:spPr>
      </p:pic>
    </p:spTree>
    <p:extLst>
      <p:ext uri="{BB962C8B-B14F-4D97-AF65-F5344CB8AC3E}">
        <p14:creationId xmlns:p14="http://schemas.microsoft.com/office/powerpoint/2010/main" val="3363883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A0B1-2DAD-9C3D-33DB-6FEC3D4FDE52}"/>
              </a:ext>
            </a:extLst>
          </p:cNvPr>
          <p:cNvSpPr>
            <a:spLocks noGrp="1"/>
          </p:cNvSpPr>
          <p:nvPr>
            <p:ph type="title"/>
          </p:nvPr>
        </p:nvSpPr>
        <p:spPr>
          <a:xfrm>
            <a:off x="913795" y="609600"/>
            <a:ext cx="10353761" cy="642085"/>
          </a:xfrm>
        </p:spPr>
        <p:txBody>
          <a:bodyPr/>
          <a:lstStyle/>
          <a:p>
            <a:pPr algn="l"/>
            <a:r>
              <a:rPr lang="en-IN" dirty="0">
                <a:latin typeface="Times New Roman" panose="02020603050405020304" pitchFamily="18" charset="0"/>
                <a:cs typeface="Times New Roman" panose="02020603050405020304" pitchFamily="18" charset="0"/>
              </a:rPr>
              <a:t>EDA – Contract Type Impact</a:t>
            </a:r>
          </a:p>
        </p:txBody>
      </p:sp>
      <p:sp>
        <p:nvSpPr>
          <p:cNvPr id="3" name="Content Placeholder 2">
            <a:extLst>
              <a:ext uri="{FF2B5EF4-FFF2-40B4-BE49-F238E27FC236}">
                <a16:creationId xmlns:a16="http://schemas.microsoft.com/office/drawing/2014/main" id="{5C2E591A-7A7B-41C1-701C-7D5BF838C531}"/>
              </a:ext>
            </a:extLst>
          </p:cNvPr>
          <p:cNvSpPr>
            <a:spLocks noGrp="1"/>
          </p:cNvSpPr>
          <p:nvPr>
            <p:ph idx="1"/>
          </p:nvPr>
        </p:nvSpPr>
        <p:spPr>
          <a:xfrm>
            <a:off x="913795" y="1487370"/>
            <a:ext cx="4948525" cy="3695136"/>
          </a:xfrm>
        </p:spPr>
        <p:txBody>
          <a:bodyPr>
            <a:norm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Month-to-month contracts have the highest churn rate. </a:t>
            </a:r>
          </a:p>
          <a:p>
            <a:pPr algn="just">
              <a:lnSpc>
                <a:spcPct val="150000"/>
              </a:lnSpc>
            </a:pPr>
            <a:r>
              <a:rPr lang="en-US" sz="1800" dirty="0">
                <a:effectLst/>
                <a:latin typeface="Times New Roman" panose="02020603050405020304" pitchFamily="18" charset="0"/>
                <a:cs typeface="Times New Roman" panose="02020603050405020304" pitchFamily="18" charset="0"/>
              </a:rPr>
              <a:t>One-year and two-year contracts are more stable with low churn probability. </a:t>
            </a:r>
          </a:p>
          <a:p>
            <a:pPr algn="just">
              <a:lnSpc>
                <a:spcPct val="150000"/>
              </a:lnSpc>
            </a:pPr>
            <a:r>
              <a:rPr lang="en-US" sz="1800" dirty="0">
                <a:effectLst/>
                <a:latin typeface="Times New Roman" panose="02020603050405020304" pitchFamily="18" charset="0"/>
                <a:cs typeface="Times New Roman" panose="02020603050405020304" pitchFamily="18" charset="0"/>
              </a:rPr>
              <a:t>Longer-term contracts help in customer retention.</a:t>
            </a:r>
          </a:p>
        </p:txBody>
      </p:sp>
      <p:pic>
        <p:nvPicPr>
          <p:cNvPr id="5" name="Picture 4">
            <a:extLst>
              <a:ext uri="{FF2B5EF4-FFF2-40B4-BE49-F238E27FC236}">
                <a16:creationId xmlns:a16="http://schemas.microsoft.com/office/drawing/2014/main" id="{F5E75CF7-E537-F480-6296-0496E88E08A1}"/>
              </a:ext>
            </a:extLst>
          </p:cNvPr>
          <p:cNvPicPr>
            <a:picLocks noChangeAspect="1"/>
          </p:cNvPicPr>
          <p:nvPr/>
        </p:nvPicPr>
        <p:blipFill>
          <a:blip r:embed="rId2"/>
          <a:stretch>
            <a:fillRect/>
          </a:stretch>
        </p:blipFill>
        <p:spPr>
          <a:xfrm>
            <a:off x="5978331" y="1678405"/>
            <a:ext cx="5460676" cy="3695136"/>
          </a:xfrm>
          <a:prstGeom prst="rect">
            <a:avLst/>
          </a:prstGeom>
        </p:spPr>
      </p:pic>
    </p:spTree>
    <p:extLst>
      <p:ext uri="{BB962C8B-B14F-4D97-AF65-F5344CB8AC3E}">
        <p14:creationId xmlns:p14="http://schemas.microsoft.com/office/powerpoint/2010/main" val="4006039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3C83-63D6-F7B0-60E6-3F689F083373}"/>
              </a:ext>
            </a:extLst>
          </p:cNvPr>
          <p:cNvSpPr>
            <a:spLocks noGrp="1"/>
          </p:cNvSpPr>
          <p:nvPr>
            <p:ph type="title"/>
          </p:nvPr>
        </p:nvSpPr>
        <p:spPr>
          <a:xfrm>
            <a:off x="913795" y="609601"/>
            <a:ext cx="10353761" cy="650240"/>
          </a:xfrm>
        </p:spPr>
        <p:txBody>
          <a:bodyPr/>
          <a:lstStyle/>
          <a:p>
            <a:pPr algn="l"/>
            <a:r>
              <a:rPr lang="en-IN" dirty="0">
                <a:latin typeface="Times New Roman" panose="02020603050405020304" pitchFamily="18" charset="0"/>
                <a:cs typeface="Times New Roman" panose="02020603050405020304" pitchFamily="18" charset="0"/>
              </a:rPr>
              <a:t>EDA – Monthly Charges Impact</a:t>
            </a:r>
          </a:p>
        </p:txBody>
      </p:sp>
      <p:sp>
        <p:nvSpPr>
          <p:cNvPr id="3" name="Content Placeholder 2">
            <a:extLst>
              <a:ext uri="{FF2B5EF4-FFF2-40B4-BE49-F238E27FC236}">
                <a16:creationId xmlns:a16="http://schemas.microsoft.com/office/drawing/2014/main" id="{68BCAADD-4254-F874-7F2E-486DC4DCA9A1}"/>
              </a:ext>
            </a:extLst>
          </p:cNvPr>
          <p:cNvSpPr>
            <a:spLocks noGrp="1"/>
          </p:cNvSpPr>
          <p:nvPr>
            <p:ph idx="1"/>
          </p:nvPr>
        </p:nvSpPr>
        <p:spPr>
          <a:xfrm>
            <a:off x="913795" y="1581432"/>
            <a:ext cx="5182205" cy="3695136"/>
          </a:xfrm>
        </p:spPr>
        <p:txBody>
          <a:bodyPr>
            <a:norm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Customers with higher monthly charges are more likely to churn. </a:t>
            </a:r>
          </a:p>
          <a:p>
            <a:pPr algn="just">
              <a:lnSpc>
                <a:spcPct val="150000"/>
              </a:lnSpc>
            </a:pPr>
            <a:r>
              <a:rPr lang="en-US" sz="1800" dirty="0">
                <a:effectLst/>
                <a:latin typeface="Times New Roman" panose="02020603050405020304" pitchFamily="18" charset="0"/>
                <a:cs typeface="Times New Roman" panose="02020603050405020304" pitchFamily="18" charset="0"/>
              </a:rPr>
              <a:t>Churn is concentrated in the upper range of monthly payments. </a:t>
            </a:r>
          </a:p>
          <a:p>
            <a:pPr algn="just">
              <a:lnSpc>
                <a:spcPct val="150000"/>
              </a:lnSpc>
            </a:pPr>
            <a:r>
              <a:rPr lang="en-US" sz="1800" dirty="0">
                <a:effectLst/>
                <a:latin typeface="Times New Roman" panose="02020603050405020304" pitchFamily="18" charset="0"/>
                <a:cs typeface="Times New Roman" panose="02020603050405020304" pitchFamily="18" charset="0"/>
              </a:rPr>
              <a:t>Pricing strategy can help retain high-charge customers.</a:t>
            </a:r>
          </a:p>
        </p:txBody>
      </p:sp>
      <p:pic>
        <p:nvPicPr>
          <p:cNvPr id="6" name="Picture 5">
            <a:extLst>
              <a:ext uri="{FF2B5EF4-FFF2-40B4-BE49-F238E27FC236}">
                <a16:creationId xmlns:a16="http://schemas.microsoft.com/office/drawing/2014/main" id="{9A0226D8-ED7C-5C1B-0619-267F033FF1DE}"/>
              </a:ext>
            </a:extLst>
          </p:cNvPr>
          <p:cNvPicPr>
            <a:picLocks noChangeAspect="1"/>
          </p:cNvPicPr>
          <p:nvPr/>
        </p:nvPicPr>
        <p:blipFill>
          <a:blip r:embed="rId2"/>
          <a:stretch>
            <a:fillRect/>
          </a:stretch>
        </p:blipFill>
        <p:spPr>
          <a:xfrm>
            <a:off x="6166224" y="1732037"/>
            <a:ext cx="5238112" cy="3544531"/>
          </a:xfrm>
          <a:prstGeom prst="rect">
            <a:avLst/>
          </a:prstGeom>
        </p:spPr>
      </p:pic>
    </p:spTree>
    <p:extLst>
      <p:ext uri="{BB962C8B-B14F-4D97-AF65-F5344CB8AC3E}">
        <p14:creationId xmlns:p14="http://schemas.microsoft.com/office/powerpoint/2010/main" val="812223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1FEC0C-5C29-0B04-33A4-6D683D9CB722}"/>
              </a:ext>
            </a:extLst>
          </p:cNvPr>
          <p:cNvSpPr>
            <a:spLocks noGrp="1"/>
          </p:cNvSpPr>
          <p:nvPr>
            <p:ph type="title"/>
          </p:nvPr>
        </p:nvSpPr>
        <p:spPr>
          <a:xfrm>
            <a:off x="913795" y="609601"/>
            <a:ext cx="10353761" cy="650240"/>
          </a:xfrm>
        </p:spPr>
        <p:txBody>
          <a:bodyPr/>
          <a:lstStyle/>
          <a:p>
            <a:pPr algn="l"/>
            <a:r>
              <a:rPr lang="en-IN" dirty="0">
                <a:latin typeface="Times New Roman" panose="02020603050405020304" pitchFamily="18" charset="0"/>
                <a:cs typeface="Times New Roman" panose="02020603050405020304" pitchFamily="18" charset="0"/>
              </a:rPr>
              <a:t>EDA – Monthly Charges Impact</a:t>
            </a:r>
          </a:p>
        </p:txBody>
      </p:sp>
      <p:sp>
        <p:nvSpPr>
          <p:cNvPr id="5" name="Content Placeholder 2">
            <a:extLst>
              <a:ext uri="{FF2B5EF4-FFF2-40B4-BE49-F238E27FC236}">
                <a16:creationId xmlns:a16="http://schemas.microsoft.com/office/drawing/2014/main" id="{E5364516-69C1-783B-2C58-8B07A93AEF7D}"/>
              </a:ext>
            </a:extLst>
          </p:cNvPr>
          <p:cNvSpPr>
            <a:spLocks noGrp="1"/>
          </p:cNvSpPr>
          <p:nvPr>
            <p:ph idx="1"/>
          </p:nvPr>
        </p:nvSpPr>
        <p:spPr>
          <a:xfrm>
            <a:off x="913795" y="1489991"/>
            <a:ext cx="5182205" cy="3695136"/>
          </a:xfrm>
        </p:spPr>
        <p:txBody>
          <a:bodyPr>
            <a:norm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Tenure is negatively correlated with churn (-0.51), confirming long-term loyalty. </a:t>
            </a:r>
          </a:p>
          <a:p>
            <a:pPr algn="just">
              <a:lnSpc>
                <a:spcPct val="150000"/>
              </a:lnSpc>
            </a:pPr>
            <a:r>
              <a:rPr lang="en-US" sz="1800" dirty="0">
                <a:effectLst/>
                <a:latin typeface="Times New Roman" panose="02020603050405020304" pitchFamily="18" charset="0"/>
                <a:cs typeface="Times New Roman" panose="02020603050405020304" pitchFamily="18" charset="0"/>
              </a:rPr>
              <a:t>Monthly charges slightly positively correlate with churn, indicating price sensitivity. </a:t>
            </a:r>
          </a:p>
          <a:p>
            <a:pPr algn="just">
              <a:lnSpc>
                <a:spcPct val="150000"/>
              </a:lnSpc>
            </a:pPr>
            <a:r>
              <a:rPr lang="en-US" sz="1800" dirty="0">
                <a:effectLst/>
                <a:latin typeface="Times New Roman" panose="02020603050405020304" pitchFamily="18" charset="0"/>
                <a:cs typeface="Times New Roman" panose="02020603050405020304" pitchFamily="18" charset="0"/>
              </a:rPr>
              <a:t>Other features (</a:t>
            </a:r>
            <a:r>
              <a:rPr lang="en-US" sz="1800" dirty="0" err="1">
                <a:effectLst/>
                <a:latin typeface="Times New Roman" panose="02020603050405020304" pitchFamily="18" charset="0"/>
                <a:cs typeface="Times New Roman" panose="02020603050405020304" pitchFamily="18" charset="0"/>
              </a:rPr>
              <a:t>TotalCharges</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SeniorCitizen</a:t>
            </a:r>
            <a:r>
              <a:rPr lang="en-US" sz="1800" dirty="0">
                <a:effectLst/>
                <a:latin typeface="Times New Roman" panose="02020603050405020304" pitchFamily="18" charset="0"/>
                <a:cs typeface="Times New Roman" panose="02020603050405020304" pitchFamily="18" charset="0"/>
              </a:rPr>
              <a:t>) show weak correlation, less predictive alone.</a:t>
            </a:r>
          </a:p>
        </p:txBody>
      </p:sp>
      <p:pic>
        <p:nvPicPr>
          <p:cNvPr id="7" name="Picture 6">
            <a:extLst>
              <a:ext uri="{FF2B5EF4-FFF2-40B4-BE49-F238E27FC236}">
                <a16:creationId xmlns:a16="http://schemas.microsoft.com/office/drawing/2014/main" id="{015AD998-BEDD-DD21-E94B-EB1D7F2D1B74}"/>
              </a:ext>
            </a:extLst>
          </p:cNvPr>
          <p:cNvPicPr>
            <a:picLocks noChangeAspect="1"/>
          </p:cNvPicPr>
          <p:nvPr/>
        </p:nvPicPr>
        <p:blipFill>
          <a:blip r:embed="rId2"/>
          <a:stretch>
            <a:fillRect/>
          </a:stretch>
        </p:blipFill>
        <p:spPr>
          <a:xfrm>
            <a:off x="6343530" y="1645920"/>
            <a:ext cx="5093878" cy="3809999"/>
          </a:xfrm>
          <a:prstGeom prst="rect">
            <a:avLst/>
          </a:prstGeom>
        </p:spPr>
      </p:pic>
    </p:spTree>
    <p:extLst>
      <p:ext uri="{BB962C8B-B14F-4D97-AF65-F5344CB8AC3E}">
        <p14:creationId xmlns:p14="http://schemas.microsoft.com/office/powerpoint/2010/main" val="2299743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442CE8-7051-F529-5B6B-1BF16B2D391D}"/>
              </a:ext>
            </a:extLst>
          </p:cNvPr>
          <p:cNvSpPr>
            <a:spLocks noGrp="1"/>
          </p:cNvSpPr>
          <p:nvPr>
            <p:ph type="title"/>
          </p:nvPr>
        </p:nvSpPr>
        <p:spPr>
          <a:xfrm>
            <a:off x="913795" y="609601"/>
            <a:ext cx="10353761" cy="629920"/>
          </a:xfrm>
        </p:spPr>
        <p:txBody>
          <a:bodyPr/>
          <a:lstStyle/>
          <a:p>
            <a:pPr algn="l"/>
            <a:r>
              <a:rPr lang="en-IN" dirty="0">
                <a:latin typeface="Times New Roman" panose="02020603050405020304" pitchFamily="18" charset="0"/>
                <a:cs typeface="Times New Roman" panose="02020603050405020304" pitchFamily="18" charset="0"/>
              </a:rPr>
              <a:t>Feature engineering</a:t>
            </a:r>
          </a:p>
        </p:txBody>
      </p:sp>
      <p:sp>
        <p:nvSpPr>
          <p:cNvPr id="5" name="Content Placeholder 2">
            <a:extLst>
              <a:ext uri="{FF2B5EF4-FFF2-40B4-BE49-F238E27FC236}">
                <a16:creationId xmlns:a16="http://schemas.microsoft.com/office/drawing/2014/main" id="{16A97E46-1D82-C92E-2639-EA81F28EEFDE}"/>
              </a:ext>
            </a:extLst>
          </p:cNvPr>
          <p:cNvSpPr>
            <a:spLocks noGrp="1"/>
          </p:cNvSpPr>
          <p:nvPr>
            <p:ph idx="1"/>
          </p:nvPr>
        </p:nvSpPr>
        <p:spPr>
          <a:xfrm>
            <a:off x="1025555" y="1239521"/>
            <a:ext cx="5070445" cy="3695136"/>
          </a:xfrm>
        </p:spPr>
        <p:txBody>
          <a:bodyPr>
            <a:no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Feature engineering was performed to prepare data for machine learning.</a:t>
            </a:r>
          </a:p>
          <a:p>
            <a:pPr algn="just">
              <a:lnSpc>
                <a:spcPct val="150000"/>
              </a:lnSpc>
            </a:pPr>
            <a:r>
              <a:rPr lang="en-US" sz="1800" b="1" dirty="0">
                <a:effectLst/>
                <a:latin typeface="Times New Roman" panose="02020603050405020304" pitchFamily="18" charset="0"/>
                <a:cs typeface="Times New Roman" panose="02020603050405020304" pitchFamily="18" charset="0"/>
              </a:rPr>
              <a:t>Steps Performed</a:t>
            </a:r>
            <a:endParaRPr lang="en-US" sz="1800" dirty="0">
              <a:effectLst/>
              <a:latin typeface="Times New Roman" panose="02020603050405020304" pitchFamily="18" charset="0"/>
              <a:cs typeface="Times New Roman" panose="02020603050405020304" pitchFamily="18" charset="0"/>
            </a:endParaRPr>
          </a:p>
          <a:p>
            <a:pPr marL="630238"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Handling missing values </a:t>
            </a:r>
          </a:p>
          <a:p>
            <a:pPr marL="630238"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Encoding categorical variables </a:t>
            </a:r>
          </a:p>
          <a:p>
            <a:pPr marL="630238"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Converting binary features </a:t>
            </a:r>
          </a:p>
          <a:p>
            <a:pPr marL="630238"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Removing non-informative identifiers </a:t>
            </a:r>
          </a:p>
          <a:p>
            <a:pPr marL="630238"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Ensuring all features are numeric </a:t>
            </a:r>
          </a:p>
          <a:p>
            <a:pPr marL="0" indent="0" algn="just">
              <a:lnSpc>
                <a:spcPct val="150000"/>
              </a:lnSpc>
              <a:buNone/>
            </a:pPr>
            <a:endParaRPr lang="en-US" sz="1800" dirty="0">
              <a:effectLst/>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786967AA-109E-4BCF-C49C-C499E60D9069}"/>
              </a:ext>
            </a:extLst>
          </p:cNvPr>
          <p:cNvSpPr txBox="1">
            <a:spLocks/>
          </p:cNvSpPr>
          <p:nvPr/>
        </p:nvSpPr>
        <p:spPr>
          <a:xfrm>
            <a:off x="6090675" y="1239521"/>
            <a:ext cx="5070445" cy="369513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algn="just">
              <a:lnSpc>
                <a:spcPct val="150000"/>
              </a:lnSpc>
            </a:pPr>
            <a:r>
              <a:rPr lang="en-US" sz="1800" b="1" dirty="0">
                <a:effectLst/>
                <a:latin typeface="Times New Roman" panose="02020603050405020304" pitchFamily="18" charset="0"/>
                <a:cs typeface="Times New Roman" panose="02020603050405020304" pitchFamily="18" charset="0"/>
              </a:rPr>
              <a:t>Final Feature Set Includes</a:t>
            </a:r>
            <a:endParaRPr lang="en-US" sz="1800" dirty="0">
              <a:effectLst/>
              <a:latin typeface="Times New Roman" panose="02020603050405020304" pitchFamily="18" charset="0"/>
              <a:cs typeface="Times New Roman" panose="02020603050405020304" pitchFamily="18" charset="0"/>
            </a:endParaRP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Tenure </a:t>
            </a:r>
          </a:p>
          <a:p>
            <a:pPr marL="687388" indent="-285750" algn="just">
              <a:lnSpc>
                <a:spcPct val="150000"/>
              </a:lnSpc>
              <a:buFont typeface="Wingdings" panose="05000000000000000000" pitchFamily="2" charset="2"/>
              <a:buChar char="Ø"/>
            </a:pPr>
            <a:r>
              <a:rPr lang="en-US" sz="1800" dirty="0" err="1">
                <a:effectLst/>
                <a:latin typeface="Times New Roman" panose="02020603050405020304" pitchFamily="18" charset="0"/>
                <a:cs typeface="Times New Roman" panose="02020603050405020304" pitchFamily="18" charset="0"/>
              </a:rPr>
              <a:t>MonthlyCharges</a:t>
            </a:r>
            <a:r>
              <a:rPr lang="en-US" sz="1800" dirty="0">
                <a:effectLst/>
                <a:latin typeface="Times New Roman" panose="02020603050405020304" pitchFamily="18" charset="0"/>
                <a:cs typeface="Times New Roman" panose="02020603050405020304" pitchFamily="18" charset="0"/>
              </a:rPr>
              <a:t> </a:t>
            </a:r>
          </a:p>
          <a:p>
            <a:pPr marL="687388" indent="-285750" algn="just">
              <a:lnSpc>
                <a:spcPct val="150000"/>
              </a:lnSpc>
              <a:buFont typeface="Wingdings" panose="05000000000000000000" pitchFamily="2" charset="2"/>
              <a:buChar char="Ø"/>
            </a:pPr>
            <a:r>
              <a:rPr lang="en-US" sz="1800" dirty="0" err="1">
                <a:effectLst/>
                <a:latin typeface="Times New Roman" panose="02020603050405020304" pitchFamily="18" charset="0"/>
                <a:cs typeface="Times New Roman" panose="02020603050405020304" pitchFamily="18" charset="0"/>
              </a:rPr>
              <a:t>TotalCharges</a:t>
            </a:r>
            <a:r>
              <a:rPr lang="en-US" sz="1800" dirty="0">
                <a:effectLst/>
                <a:latin typeface="Times New Roman" panose="02020603050405020304" pitchFamily="18" charset="0"/>
                <a:cs typeface="Times New Roman" panose="02020603050405020304" pitchFamily="18" charset="0"/>
              </a:rPr>
              <a:t> </a:t>
            </a: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Contract type indicators </a:t>
            </a: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Payment method indicators </a:t>
            </a: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Billing preferences </a:t>
            </a:r>
          </a:p>
          <a:p>
            <a:pPr algn="just">
              <a:lnSpc>
                <a:spcPct val="150000"/>
              </a:lnSpc>
            </a:pPr>
            <a:r>
              <a:rPr lang="en-US" sz="1800" dirty="0">
                <a:effectLst/>
                <a:latin typeface="Times New Roman" panose="02020603050405020304" pitchFamily="18" charset="0"/>
                <a:cs typeface="Times New Roman" panose="02020603050405020304" pitchFamily="18" charset="0"/>
              </a:rPr>
              <a:t>These engineered features help improve model prediction performance.</a:t>
            </a:r>
          </a:p>
        </p:txBody>
      </p:sp>
      <p:cxnSp>
        <p:nvCxnSpPr>
          <p:cNvPr id="9" name="Straight Connector 8">
            <a:extLst>
              <a:ext uri="{FF2B5EF4-FFF2-40B4-BE49-F238E27FC236}">
                <a16:creationId xmlns:a16="http://schemas.microsoft.com/office/drawing/2014/main" id="{393705B3-988F-1CDB-E296-79BCD98EEF07}"/>
              </a:ext>
            </a:extLst>
          </p:cNvPr>
          <p:cNvCxnSpPr>
            <a:cxnSpLocks/>
          </p:cNvCxnSpPr>
          <p:nvPr/>
        </p:nvCxnSpPr>
        <p:spPr>
          <a:xfrm>
            <a:off x="6090675" y="1351281"/>
            <a:ext cx="0" cy="464311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33290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6221-4856-419E-BD25-7EADE5DE7953}"/>
              </a:ext>
            </a:extLst>
          </p:cNvPr>
          <p:cNvSpPr>
            <a:spLocks noGrp="1"/>
          </p:cNvSpPr>
          <p:nvPr>
            <p:ph type="title"/>
          </p:nvPr>
        </p:nvSpPr>
        <p:spPr>
          <a:xfrm>
            <a:off x="913795" y="609601"/>
            <a:ext cx="10353761" cy="629920"/>
          </a:xfrm>
        </p:spPr>
        <p:txBody>
          <a:bodyPr/>
          <a:lstStyle/>
          <a:p>
            <a:pPr algn="l"/>
            <a:r>
              <a:rPr lang="en-IN" dirty="0">
                <a:latin typeface="Times New Roman" panose="02020603050405020304" pitchFamily="18" charset="0"/>
                <a:cs typeface="Times New Roman" panose="02020603050405020304" pitchFamily="18" charset="0"/>
              </a:rPr>
              <a:t>Model development</a:t>
            </a:r>
          </a:p>
        </p:txBody>
      </p:sp>
      <p:sp>
        <p:nvSpPr>
          <p:cNvPr id="3" name="Content Placeholder 2">
            <a:extLst>
              <a:ext uri="{FF2B5EF4-FFF2-40B4-BE49-F238E27FC236}">
                <a16:creationId xmlns:a16="http://schemas.microsoft.com/office/drawing/2014/main" id="{9E7C835B-DE41-DD55-ED2B-A2ECCFF5ACBF}"/>
              </a:ext>
            </a:extLst>
          </p:cNvPr>
          <p:cNvSpPr>
            <a:spLocks noGrp="1"/>
          </p:cNvSpPr>
          <p:nvPr>
            <p:ph idx="1"/>
          </p:nvPr>
        </p:nvSpPr>
        <p:spPr>
          <a:xfrm>
            <a:off x="1025555" y="1239521"/>
            <a:ext cx="10353762" cy="3695136"/>
          </a:xfrm>
        </p:spPr>
        <p:txBody>
          <a:bodyPr>
            <a:noAutofit/>
          </a:bodyPr>
          <a:lstStyle/>
          <a:p>
            <a:pPr algn="just">
              <a:lnSpc>
                <a:spcPct val="150000"/>
              </a:lnSpc>
            </a:pPr>
            <a:r>
              <a:rPr lang="en-IN" sz="1800" dirty="0">
                <a:effectLst/>
                <a:latin typeface="Times New Roman" panose="02020603050405020304" pitchFamily="18" charset="0"/>
                <a:cs typeface="Times New Roman" panose="02020603050405020304" pitchFamily="18" charset="0"/>
              </a:rPr>
              <a:t>Two machine learning models were developed and compared.</a:t>
            </a:r>
          </a:p>
          <a:p>
            <a:pPr algn="just">
              <a:lnSpc>
                <a:spcPct val="150000"/>
              </a:lnSpc>
            </a:pPr>
            <a:r>
              <a:rPr lang="en-IN" sz="1800" b="1" dirty="0">
                <a:effectLst/>
                <a:latin typeface="Times New Roman" panose="02020603050405020304" pitchFamily="18" charset="0"/>
                <a:cs typeface="Times New Roman" panose="02020603050405020304" pitchFamily="18" charset="0"/>
              </a:rPr>
              <a:t>Models Used</a:t>
            </a:r>
            <a:endParaRPr lang="en-IN" sz="1800" dirty="0">
              <a:effectLst/>
              <a:latin typeface="Times New Roman" panose="02020603050405020304" pitchFamily="18" charset="0"/>
              <a:cs typeface="Times New Roman" panose="02020603050405020304" pitchFamily="18" charset="0"/>
            </a:endParaRPr>
          </a:p>
          <a:p>
            <a:pPr marL="766763" algn="just">
              <a:lnSpc>
                <a:spcPct val="150000"/>
              </a:lnSpc>
              <a:buFont typeface="+mj-lt"/>
              <a:buAutoNum type="arabicPeriod"/>
            </a:pPr>
            <a:r>
              <a:rPr lang="en-IN" sz="1800" dirty="0">
                <a:effectLst/>
                <a:latin typeface="Times New Roman" panose="02020603050405020304" pitchFamily="18" charset="0"/>
                <a:cs typeface="Times New Roman" panose="02020603050405020304" pitchFamily="18" charset="0"/>
              </a:rPr>
              <a:t>Logistic Regression </a:t>
            </a:r>
          </a:p>
          <a:p>
            <a:pPr marL="766763" algn="just">
              <a:lnSpc>
                <a:spcPct val="150000"/>
              </a:lnSpc>
              <a:buFont typeface="+mj-lt"/>
              <a:buAutoNum type="arabicPeriod"/>
            </a:pPr>
            <a:r>
              <a:rPr lang="en-IN" sz="1800" dirty="0">
                <a:effectLst/>
                <a:latin typeface="Times New Roman" panose="02020603050405020304" pitchFamily="18" charset="0"/>
                <a:cs typeface="Times New Roman" panose="02020603050405020304" pitchFamily="18" charset="0"/>
              </a:rPr>
              <a:t>Random Forest Classifier </a:t>
            </a:r>
          </a:p>
          <a:p>
            <a:pPr algn="just">
              <a:lnSpc>
                <a:spcPct val="150000"/>
              </a:lnSpc>
            </a:pPr>
            <a:r>
              <a:rPr lang="en-IN" sz="1800" b="1" dirty="0">
                <a:effectLst/>
                <a:latin typeface="Times New Roman" panose="02020603050405020304" pitchFamily="18" charset="0"/>
                <a:cs typeface="Times New Roman" panose="02020603050405020304" pitchFamily="18" charset="0"/>
              </a:rPr>
              <a:t>Pipeline Workflow</a:t>
            </a:r>
            <a:endParaRPr lang="en-IN" sz="1800" dirty="0">
              <a:effectLst/>
              <a:latin typeface="Times New Roman" panose="02020603050405020304" pitchFamily="18" charset="0"/>
              <a:cs typeface="Times New Roman" panose="02020603050405020304" pitchFamily="18" charset="0"/>
            </a:endParaRPr>
          </a:p>
          <a:p>
            <a:pPr marL="0" indent="0">
              <a:lnSpc>
                <a:spcPct val="100000"/>
              </a:lnSpc>
              <a:buNone/>
            </a:pPr>
            <a:r>
              <a:rPr lang="en-IN" sz="1800" dirty="0">
                <a:effectLst/>
                <a:latin typeface="Times New Roman" panose="02020603050405020304" pitchFamily="18" charset="0"/>
                <a:cs typeface="Times New Roman" panose="02020603050405020304" pitchFamily="18" charset="0"/>
              </a:rPr>
              <a:t>  Data Preprocessing → Feature Engineering → Train/Test Split → Model Training → Hyperparameter Tuning</a:t>
            </a:r>
          </a:p>
          <a:p>
            <a:pPr algn="just">
              <a:lnSpc>
                <a:spcPct val="150000"/>
              </a:lnSpc>
            </a:pPr>
            <a:r>
              <a:rPr lang="en-IN" sz="1800" b="1" dirty="0">
                <a:effectLst/>
                <a:latin typeface="Times New Roman" panose="02020603050405020304" pitchFamily="18" charset="0"/>
                <a:cs typeface="Times New Roman" panose="02020603050405020304" pitchFamily="18" charset="0"/>
              </a:rPr>
              <a:t>Why Random Forest</a:t>
            </a:r>
            <a:endParaRPr lang="en-IN" sz="1800" dirty="0">
              <a:effectLst/>
              <a:latin typeface="Times New Roman" panose="02020603050405020304" pitchFamily="18" charset="0"/>
              <a:cs typeface="Times New Roman" panose="02020603050405020304" pitchFamily="18" charset="0"/>
            </a:endParaRPr>
          </a:p>
          <a:p>
            <a:pPr marL="803275" indent="-287338" algn="just">
              <a:lnSpc>
                <a:spcPct val="100000"/>
              </a:lnSpc>
              <a:buFont typeface="Wingdings" panose="05000000000000000000" pitchFamily="2" charset="2"/>
              <a:buChar char="ü"/>
            </a:pPr>
            <a:r>
              <a:rPr lang="en-IN" sz="1800" dirty="0">
                <a:effectLst/>
                <a:latin typeface="Times New Roman" panose="02020603050405020304" pitchFamily="18" charset="0"/>
                <a:cs typeface="Times New Roman" panose="02020603050405020304" pitchFamily="18" charset="0"/>
              </a:rPr>
              <a:t>Handles nonlinear relationships </a:t>
            </a:r>
          </a:p>
          <a:p>
            <a:pPr marL="803275" indent="-287338" algn="just">
              <a:lnSpc>
                <a:spcPct val="150000"/>
              </a:lnSpc>
              <a:buFont typeface="Wingdings" panose="05000000000000000000" pitchFamily="2" charset="2"/>
              <a:buChar char="ü"/>
            </a:pPr>
            <a:r>
              <a:rPr lang="en-IN" sz="1800" dirty="0">
                <a:effectLst/>
                <a:latin typeface="Times New Roman" panose="02020603050405020304" pitchFamily="18" charset="0"/>
                <a:cs typeface="Times New Roman" panose="02020603050405020304" pitchFamily="18" charset="0"/>
              </a:rPr>
              <a:t>Robust to feature interactions </a:t>
            </a:r>
          </a:p>
          <a:p>
            <a:pPr marL="803275" indent="-287338" algn="just">
              <a:lnSpc>
                <a:spcPct val="150000"/>
              </a:lnSpc>
              <a:buFont typeface="Wingdings" panose="05000000000000000000" pitchFamily="2" charset="2"/>
              <a:buChar char="ü"/>
            </a:pPr>
            <a:r>
              <a:rPr lang="en-IN" sz="1800" dirty="0">
                <a:effectLst/>
                <a:latin typeface="Times New Roman" panose="02020603050405020304" pitchFamily="18" charset="0"/>
                <a:cs typeface="Times New Roman" panose="02020603050405020304" pitchFamily="18" charset="0"/>
              </a:rPr>
              <a:t>Strong performance on tabular datasets</a:t>
            </a:r>
          </a:p>
        </p:txBody>
      </p:sp>
    </p:spTree>
    <p:extLst>
      <p:ext uri="{BB962C8B-B14F-4D97-AF65-F5344CB8AC3E}">
        <p14:creationId xmlns:p14="http://schemas.microsoft.com/office/powerpoint/2010/main" val="2022380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FF9CB-ED35-4799-3EC3-E4DDADFE4A05}"/>
              </a:ext>
            </a:extLst>
          </p:cNvPr>
          <p:cNvSpPr>
            <a:spLocks noGrp="1"/>
          </p:cNvSpPr>
          <p:nvPr>
            <p:ph type="title"/>
          </p:nvPr>
        </p:nvSpPr>
        <p:spPr>
          <a:xfrm>
            <a:off x="913795" y="609601"/>
            <a:ext cx="10353761" cy="660400"/>
          </a:xfrm>
        </p:spPr>
        <p:txBody>
          <a:bodyPr/>
          <a:lstStyle/>
          <a:p>
            <a:pPr algn="l"/>
            <a:r>
              <a:rPr lang="en-IN" dirty="0">
                <a:latin typeface="Times New Roman" panose="02020603050405020304" pitchFamily="18" charset="0"/>
                <a:cs typeface="Times New Roman" panose="02020603050405020304" pitchFamily="18" charset="0"/>
              </a:rPr>
              <a:t>Model performance</a:t>
            </a:r>
          </a:p>
        </p:txBody>
      </p:sp>
      <p:sp>
        <p:nvSpPr>
          <p:cNvPr id="3" name="Content Placeholder 2">
            <a:extLst>
              <a:ext uri="{FF2B5EF4-FFF2-40B4-BE49-F238E27FC236}">
                <a16:creationId xmlns:a16="http://schemas.microsoft.com/office/drawing/2014/main" id="{75996A2F-F644-4F7C-34E3-BBFFF05DC4CB}"/>
              </a:ext>
            </a:extLst>
          </p:cNvPr>
          <p:cNvSpPr>
            <a:spLocks noGrp="1"/>
          </p:cNvSpPr>
          <p:nvPr>
            <p:ph idx="1"/>
          </p:nvPr>
        </p:nvSpPr>
        <p:spPr>
          <a:xfrm>
            <a:off x="924444" y="1270001"/>
            <a:ext cx="10353762" cy="3695136"/>
          </a:xfrm>
        </p:spPr>
        <p:txBody>
          <a:bodyPr>
            <a:noAutofit/>
          </a:bodyPr>
          <a:lstStyle/>
          <a:p>
            <a:pPr algn="just">
              <a:lnSpc>
                <a:spcPct val="150000"/>
              </a:lnSpc>
            </a:pPr>
            <a:r>
              <a:rPr lang="en-US" sz="1800" dirty="0">
                <a:effectLst/>
                <a:latin typeface="Times New Roman" panose="02020603050405020304" pitchFamily="18" charset="0"/>
                <a:cs typeface="Times New Roman" panose="02020603050405020304" pitchFamily="18" charset="0"/>
              </a:rPr>
              <a:t>The Random Forest model achieved strong predictive performance.</a:t>
            </a:r>
          </a:p>
          <a:p>
            <a:pPr algn="just">
              <a:lnSpc>
                <a:spcPct val="150000"/>
              </a:lnSpc>
            </a:pPr>
            <a:endParaRPr lang="en-US" sz="1800" dirty="0">
              <a:effectLst/>
              <a:latin typeface="Times New Roman" panose="02020603050405020304" pitchFamily="18" charset="0"/>
              <a:cs typeface="Times New Roman" panose="02020603050405020304" pitchFamily="18" charset="0"/>
            </a:endParaRPr>
          </a:p>
          <a:p>
            <a:pPr algn="just">
              <a:lnSpc>
                <a:spcPct val="150000"/>
              </a:lnSpc>
            </a:pPr>
            <a:endParaRPr lang="en-US" sz="1800" dirty="0">
              <a:effectLst/>
              <a:latin typeface="Times New Roman" panose="02020603050405020304" pitchFamily="18" charset="0"/>
              <a:cs typeface="Times New Roman" panose="02020603050405020304" pitchFamily="18" charset="0"/>
            </a:endParaRPr>
          </a:p>
          <a:p>
            <a:pPr algn="just">
              <a:lnSpc>
                <a:spcPct val="150000"/>
              </a:lnSpc>
            </a:pPr>
            <a:endParaRPr lang="en-US" sz="1800" dirty="0">
              <a:effectLst/>
              <a:latin typeface="Times New Roman" panose="02020603050405020304" pitchFamily="18" charset="0"/>
              <a:cs typeface="Times New Roman" panose="02020603050405020304" pitchFamily="18" charset="0"/>
            </a:endParaRPr>
          </a:p>
          <a:p>
            <a:pPr algn="just">
              <a:lnSpc>
                <a:spcPct val="150000"/>
              </a:lnSpc>
            </a:pPr>
            <a:r>
              <a:rPr lang="en-US" sz="1800" b="1" dirty="0">
                <a:effectLst/>
                <a:latin typeface="Times New Roman" panose="02020603050405020304" pitchFamily="18" charset="0"/>
                <a:cs typeface="Times New Roman" panose="02020603050405020304" pitchFamily="18" charset="0"/>
              </a:rPr>
              <a:t>Final Model Performance</a:t>
            </a:r>
            <a:endParaRPr lang="en-US" sz="1800" dirty="0">
              <a:effectLst/>
              <a:latin typeface="Times New Roman" panose="02020603050405020304" pitchFamily="18" charset="0"/>
              <a:cs typeface="Times New Roman" panose="02020603050405020304" pitchFamily="18" charset="0"/>
            </a:endParaRP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Accuracy: </a:t>
            </a:r>
            <a:r>
              <a:rPr lang="en-US" sz="1800" b="1" dirty="0">
                <a:effectLst/>
                <a:latin typeface="Times New Roman" panose="02020603050405020304" pitchFamily="18" charset="0"/>
                <a:cs typeface="Times New Roman" panose="02020603050405020304" pitchFamily="18" charset="0"/>
              </a:rPr>
              <a:t>96%</a:t>
            </a:r>
            <a:r>
              <a:rPr lang="en-US" sz="1800" dirty="0">
                <a:effectLst/>
                <a:latin typeface="Times New Roman" panose="02020603050405020304" pitchFamily="18" charset="0"/>
                <a:cs typeface="Times New Roman" panose="02020603050405020304" pitchFamily="18" charset="0"/>
              </a:rPr>
              <a:t> </a:t>
            </a: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ROC-AUC: </a:t>
            </a:r>
            <a:r>
              <a:rPr lang="en-US" sz="1800" b="1" dirty="0">
                <a:effectLst/>
                <a:latin typeface="Times New Roman" panose="02020603050405020304" pitchFamily="18" charset="0"/>
                <a:cs typeface="Times New Roman" panose="02020603050405020304" pitchFamily="18" charset="0"/>
              </a:rPr>
              <a:t>0.99</a:t>
            </a:r>
            <a:r>
              <a:rPr lang="en-US" sz="1800" dirty="0">
                <a:effectLst/>
                <a:latin typeface="Times New Roman" panose="02020603050405020304" pitchFamily="18" charset="0"/>
                <a:cs typeface="Times New Roman" panose="02020603050405020304" pitchFamily="18" charset="0"/>
              </a:rPr>
              <a:t> </a:t>
            </a:r>
          </a:p>
          <a:p>
            <a:pPr marL="687388" indent="-285750" algn="just">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High precision for churn prediction </a:t>
            </a:r>
          </a:p>
          <a:p>
            <a:pPr algn="just">
              <a:lnSpc>
                <a:spcPct val="150000"/>
              </a:lnSpc>
            </a:pPr>
            <a:r>
              <a:rPr lang="en-US" sz="1800" dirty="0">
                <a:effectLst/>
                <a:latin typeface="Times New Roman" panose="02020603050405020304" pitchFamily="18" charset="0"/>
                <a:cs typeface="Times New Roman" panose="02020603050405020304" pitchFamily="18" charset="0"/>
              </a:rPr>
              <a:t>The model effectively identifies customers with high churn risk.</a:t>
            </a:r>
          </a:p>
        </p:txBody>
      </p:sp>
      <p:graphicFrame>
        <p:nvGraphicFramePr>
          <p:cNvPr id="8" name="Table 7">
            <a:extLst>
              <a:ext uri="{FF2B5EF4-FFF2-40B4-BE49-F238E27FC236}">
                <a16:creationId xmlns:a16="http://schemas.microsoft.com/office/drawing/2014/main" id="{4D0B3C12-2151-D12D-7AEC-1BAB0E1F3EC5}"/>
              </a:ext>
            </a:extLst>
          </p:cNvPr>
          <p:cNvGraphicFramePr>
            <a:graphicFrameLocks noGrp="1"/>
          </p:cNvGraphicFramePr>
          <p:nvPr>
            <p:extLst>
              <p:ext uri="{D42A27DB-BD31-4B8C-83A1-F6EECF244321}">
                <p14:modId xmlns:p14="http://schemas.microsoft.com/office/powerpoint/2010/main" val="3430941596"/>
              </p:ext>
            </p:extLst>
          </p:nvPr>
        </p:nvGraphicFramePr>
        <p:xfrm>
          <a:off x="3114285" y="1930401"/>
          <a:ext cx="5974080" cy="1371600"/>
        </p:xfrm>
        <a:graphic>
          <a:graphicData uri="http://schemas.openxmlformats.org/drawingml/2006/table">
            <a:tbl>
              <a:tblPr/>
              <a:tblGrid>
                <a:gridCol w="1991360">
                  <a:extLst>
                    <a:ext uri="{9D8B030D-6E8A-4147-A177-3AD203B41FA5}">
                      <a16:colId xmlns:a16="http://schemas.microsoft.com/office/drawing/2014/main" val="3459368729"/>
                    </a:ext>
                  </a:extLst>
                </a:gridCol>
                <a:gridCol w="1991360">
                  <a:extLst>
                    <a:ext uri="{9D8B030D-6E8A-4147-A177-3AD203B41FA5}">
                      <a16:colId xmlns:a16="http://schemas.microsoft.com/office/drawing/2014/main" val="2777687023"/>
                    </a:ext>
                  </a:extLst>
                </a:gridCol>
                <a:gridCol w="1991360">
                  <a:extLst>
                    <a:ext uri="{9D8B030D-6E8A-4147-A177-3AD203B41FA5}">
                      <a16:colId xmlns:a16="http://schemas.microsoft.com/office/drawing/2014/main" val="1777689973"/>
                    </a:ext>
                  </a:extLst>
                </a:gridCol>
              </a:tblGrid>
              <a:tr h="287443">
                <a:tc>
                  <a:txBody>
                    <a:bodyPr/>
                    <a:lstStyle/>
                    <a:p>
                      <a:pPr algn="ctr">
                        <a:buNone/>
                      </a:pPr>
                      <a:r>
                        <a:rPr lang="en-IN">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ROC-AUC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7483106"/>
                  </a:ext>
                </a:extLst>
              </a:tr>
              <a:tr h="287443">
                <a:tc>
                  <a:txBody>
                    <a:bodyPr/>
                    <a:lstStyle/>
                    <a:p>
                      <a:pPr algn="ctr">
                        <a:buNone/>
                      </a:pPr>
                      <a:r>
                        <a:rPr lang="en-IN" dirty="0">
                          <a:latin typeface="Times New Roman" panose="02020603050405020304" pitchFamily="18" charset="0"/>
                          <a:cs typeface="Times New Roman" panose="02020603050405020304" pitchFamily="18"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latin typeface="Times New Roman" panose="02020603050405020304" pitchFamily="18" charset="0"/>
                          <a:cs typeface="Times New Roman" panose="02020603050405020304" pitchFamily="18" charset="0"/>
                        </a:rPr>
                        <a:t>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latin typeface="Times New Roman" panose="02020603050405020304" pitchFamily="18" charset="0"/>
                          <a:cs typeface="Times New Roman" panose="02020603050405020304" pitchFamily="18" charset="0"/>
                        </a:rPr>
                        <a:t>0.98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3991788"/>
                  </a:ext>
                </a:extLst>
              </a:tr>
              <a:tr h="287443">
                <a:tc>
                  <a:txBody>
                    <a:bodyPr/>
                    <a:lstStyle/>
                    <a:p>
                      <a:pPr algn="ctr">
                        <a:buNone/>
                      </a:pPr>
                      <a:r>
                        <a:rPr lang="en-IN">
                          <a:latin typeface="Times New Roman" panose="02020603050405020304" pitchFamily="18" charset="0"/>
                          <a:cs typeface="Times New Roman" panose="02020603050405020304"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latin typeface="Times New Roman" panose="02020603050405020304" pitchFamily="18" charset="0"/>
                          <a:cs typeface="Times New Roman" panose="02020603050405020304" pitchFamily="18" charset="0"/>
                        </a:rPr>
                        <a:t>96%</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latin typeface="Times New Roman" panose="02020603050405020304" pitchFamily="18" charset="0"/>
                          <a:cs typeface="Times New Roman" panose="02020603050405020304" pitchFamily="18" charset="0"/>
                        </a:rPr>
                        <a:t>0.99</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7878944"/>
                  </a:ext>
                </a:extLst>
              </a:tr>
            </a:tbl>
          </a:graphicData>
        </a:graphic>
      </p:graphicFrame>
    </p:spTree>
    <p:extLst>
      <p:ext uri="{BB962C8B-B14F-4D97-AF65-F5344CB8AC3E}">
        <p14:creationId xmlns:p14="http://schemas.microsoft.com/office/powerpoint/2010/main" val="2912079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F2D9-AACD-216F-0582-34F041F9B056}"/>
              </a:ext>
            </a:extLst>
          </p:cNvPr>
          <p:cNvSpPr>
            <a:spLocks noGrp="1"/>
          </p:cNvSpPr>
          <p:nvPr>
            <p:ph type="title"/>
          </p:nvPr>
        </p:nvSpPr>
        <p:spPr>
          <a:xfrm>
            <a:off x="913795" y="609601"/>
            <a:ext cx="10353761" cy="690880"/>
          </a:xfrm>
        </p:spPr>
        <p:txBody>
          <a:bodyPr/>
          <a:lstStyle/>
          <a:p>
            <a:pPr algn="l"/>
            <a:r>
              <a:rPr lang="en-IN" dirty="0">
                <a:latin typeface="Times New Roman" panose="02020603050405020304" pitchFamily="18" charset="0"/>
                <a:cs typeface="Times New Roman" panose="02020603050405020304" pitchFamily="18" charset="0"/>
              </a:rPr>
              <a:t>Model Performance</a:t>
            </a:r>
          </a:p>
        </p:txBody>
      </p:sp>
      <p:sp>
        <p:nvSpPr>
          <p:cNvPr id="3" name="Content Placeholder 2">
            <a:extLst>
              <a:ext uri="{FF2B5EF4-FFF2-40B4-BE49-F238E27FC236}">
                <a16:creationId xmlns:a16="http://schemas.microsoft.com/office/drawing/2014/main" id="{9E009156-7880-6095-A1A5-BAE176785E5F}"/>
              </a:ext>
            </a:extLst>
          </p:cNvPr>
          <p:cNvSpPr>
            <a:spLocks noGrp="1"/>
          </p:cNvSpPr>
          <p:nvPr>
            <p:ph idx="1"/>
          </p:nvPr>
        </p:nvSpPr>
        <p:spPr>
          <a:xfrm>
            <a:off x="924445" y="1300481"/>
            <a:ext cx="5374756" cy="3695136"/>
          </a:xfrm>
        </p:spPr>
        <p:txBody>
          <a:bodyPr>
            <a:noAutofit/>
          </a:bodyPr>
          <a:lstStyle/>
          <a:p>
            <a:pPr algn="just">
              <a:lnSpc>
                <a:spcPct val="150000"/>
              </a:lnSpc>
            </a:pPr>
            <a:r>
              <a:rPr lang="en-US" sz="1800" b="1" dirty="0">
                <a:effectLst/>
                <a:latin typeface="Times New Roman" panose="02020603050405020304" pitchFamily="18" charset="0"/>
                <a:cs typeface="Times New Roman" panose="02020603050405020304" pitchFamily="18" charset="0"/>
              </a:rPr>
              <a:t>High Accuracy for Non-Churn</a:t>
            </a:r>
            <a:r>
              <a:rPr lang="en-US" sz="1800" dirty="0">
                <a:effectLst/>
                <a:latin typeface="Times New Roman" panose="02020603050405020304" pitchFamily="18" charset="0"/>
                <a:cs typeface="Times New Roman" panose="02020603050405020304" pitchFamily="18" charset="0"/>
              </a:rPr>
              <a:t>: 89 out of 89 customers who stayed were correctly predicted. </a:t>
            </a:r>
          </a:p>
          <a:p>
            <a:pPr algn="just">
              <a:lnSpc>
                <a:spcPct val="150000"/>
              </a:lnSpc>
            </a:pPr>
            <a:r>
              <a:rPr lang="en-US" sz="1800" b="1" dirty="0">
                <a:effectLst/>
                <a:latin typeface="Times New Roman" panose="02020603050405020304" pitchFamily="18" charset="0"/>
                <a:cs typeface="Times New Roman" panose="02020603050405020304" pitchFamily="18" charset="0"/>
              </a:rPr>
              <a:t>Churn Detection Recall</a:t>
            </a:r>
            <a:r>
              <a:rPr lang="en-US" sz="1800" dirty="0">
                <a:effectLst/>
                <a:latin typeface="Times New Roman" panose="02020603050405020304" pitchFamily="18" charset="0"/>
                <a:cs typeface="Times New Roman" panose="02020603050405020304" pitchFamily="18" charset="0"/>
              </a:rPr>
              <a:t>: Only 7 out of 11 actual churn customers were correctly identified — recall is moderate (0.64). </a:t>
            </a:r>
          </a:p>
          <a:p>
            <a:pPr algn="just">
              <a:lnSpc>
                <a:spcPct val="150000"/>
              </a:lnSpc>
            </a:pPr>
            <a:r>
              <a:rPr lang="en-US" sz="1800" b="1" dirty="0">
                <a:effectLst/>
                <a:latin typeface="Times New Roman" panose="02020603050405020304" pitchFamily="18" charset="0"/>
                <a:cs typeface="Times New Roman" panose="02020603050405020304" pitchFamily="18" charset="0"/>
              </a:rPr>
              <a:t>Precision is Strong</a:t>
            </a:r>
            <a:r>
              <a:rPr lang="en-US" sz="1800" dirty="0">
                <a:effectLst/>
                <a:latin typeface="Times New Roman" panose="02020603050405020304" pitchFamily="18" charset="0"/>
                <a:cs typeface="Times New Roman" panose="02020603050405020304" pitchFamily="18" charset="0"/>
              </a:rPr>
              <a:t>: All predicted churn customers were truly churners — no false positives. </a:t>
            </a:r>
          </a:p>
          <a:p>
            <a:pPr algn="just">
              <a:lnSpc>
                <a:spcPct val="150000"/>
              </a:lnSpc>
            </a:pPr>
            <a:r>
              <a:rPr lang="en-US" sz="1800" b="1" dirty="0">
                <a:effectLst/>
                <a:latin typeface="Times New Roman" panose="02020603050405020304" pitchFamily="18" charset="0"/>
                <a:cs typeface="Times New Roman" panose="02020603050405020304" pitchFamily="18" charset="0"/>
              </a:rPr>
              <a:t>Imbalanced Dataset Effect</a:t>
            </a:r>
            <a:r>
              <a:rPr lang="en-US" sz="1800" dirty="0">
                <a:effectLst/>
                <a:latin typeface="Times New Roman" panose="02020603050405020304" pitchFamily="18" charset="0"/>
                <a:cs typeface="Times New Roman" panose="02020603050405020304" pitchFamily="18" charset="0"/>
              </a:rPr>
              <a:t>: Most customers don’t churn, so the model is extremely accurate for majority class but slightly less sensitive for minority (churn) class.</a:t>
            </a:r>
          </a:p>
        </p:txBody>
      </p:sp>
      <p:pic>
        <p:nvPicPr>
          <p:cNvPr id="5" name="Picture 4">
            <a:extLst>
              <a:ext uri="{FF2B5EF4-FFF2-40B4-BE49-F238E27FC236}">
                <a16:creationId xmlns:a16="http://schemas.microsoft.com/office/drawing/2014/main" id="{4F0932C1-FFC3-8D3B-F739-FB2BF995F373}"/>
              </a:ext>
            </a:extLst>
          </p:cNvPr>
          <p:cNvPicPr>
            <a:picLocks noChangeAspect="1"/>
          </p:cNvPicPr>
          <p:nvPr/>
        </p:nvPicPr>
        <p:blipFill>
          <a:blip r:embed="rId2"/>
          <a:stretch>
            <a:fillRect/>
          </a:stretch>
        </p:blipFill>
        <p:spPr>
          <a:xfrm>
            <a:off x="6299201" y="1300481"/>
            <a:ext cx="5093075" cy="3695136"/>
          </a:xfrm>
          <a:prstGeom prst="rect">
            <a:avLst/>
          </a:prstGeom>
        </p:spPr>
      </p:pic>
    </p:spTree>
    <p:extLst>
      <p:ext uri="{BB962C8B-B14F-4D97-AF65-F5344CB8AC3E}">
        <p14:creationId xmlns:p14="http://schemas.microsoft.com/office/powerpoint/2010/main" val="3091430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97D392E-32FF-E281-7683-F99371454EA5}"/>
              </a:ext>
            </a:extLst>
          </p:cNvPr>
          <p:cNvSpPr txBox="1">
            <a:spLocks/>
          </p:cNvSpPr>
          <p:nvPr/>
        </p:nvSpPr>
        <p:spPr>
          <a:xfrm>
            <a:off x="913795" y="609601"/>
            <a:ext cx="10353761" cy="690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gn="l"/>
            <a:r>
              <a:rPr lang="en-IN">
                <a:latin typeface="Times New Roman" panose="02020603050405020304" pitchFamily="18" charset="0"/>
                <a:cs typeface="Times New Roman" panose="02020603050405020304" pitchFamily="18" charset="0"/>
              </a:rPr>
              <a:t>Model Performance</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8738F911-55C8-623C-DBFC-F106FFABCF2F}"/>
              </a:ext>
            </a:extLst>
          </p:cNvPr>
          <p:cNvSpPr>
            <a:spLocks noGrp="1"/>
          </p:cNvSpPr>
          <p:nvPr>
            <p:ph idx="1"/>
          </p:nvPr>
        </p:nvSpPr>
        <p:spPr>
          <a:xfrm>
            <a:off x="924445" y="1300481"/>
            <a:ext cx="5374756" cy="3695136"/>
          </a:xfrm>
        </p:spPr>
        <p:txBody>
          <a:bodyPr>
            <a:noAutofit/>
          </a:bodyPr>
          <a:lstStyle/>
          <a:p>
            <a:pPr algn="just">
              <a:lnSpc>
                <a:spcPct val="150000"/>
              </a:lnSpc>
            </a:pPr>
            <a:r>
              <a:rPr lang="en-US" sz="1800" b="1" dirty="0">
                <a:effectLst/>
                <a:latin typeface="Times New Roman" panose="02020603050405020304" pitchFamily="18" charset="0"/>
                <a:cs typeface="Times New Roman" panose="02020603050405020304" pitchFamily="18" charset="0"/>
              </a:rPr>
              <a:t>Excellent Discrimination</a:t>
            </a:r>
            <a:r>
              <a:rPr lang="en-US" sz="1800" dirty="0">
                <a:effectLst/>
                <a:latin typeface="Times New Roman" panose="02020603050405020304" pitchFamily="18" charset="0"/>
                <a:cs typeface="Times New Roman" panose="02020603050405020304" pitchFamily="18" charset="0"/>
              </a:rPr>
              <a:t>: ROC-AUC ~0.988 indicates the model effectively distinguishes churn vs non-churn. </a:t>
            </a:r>
          </a:p>
          <a:p>
            <a:pPr algn="just">
              <a:lnSpc>
                <a:spcPct val="150000"/>
              </a:lnSpc>
            </a:pPr>
            <a:r>
              <a:rPr lang="en-US" sz="1800" b="1" dirty="0">
                <a:effectLst/>
                <a:latin typeface="Times New Roman" panose="02020603050405020304" pitchFamily="18" charset="0"/>
                <a:cs typeface="Times New Roman" panose="02020603050405020304" pitchFamily="18" charset="0"/>
              </a:rPr>
              <a:t>Model Robustness</a:t>
            </a:r>
            <a:r>
              <a:rPr lang="en-US" sz="1800" dirty="0">
                <a:effectLst/>
                <a:latin typeface="Times New Roman" panose="02020603050405020304" pitchFamily="18" charset="0"/>
                <a:cs typeface="Times New Roman" panose="02020603050405020304" pitchFamily="18" charset="0"/>
              </a:rPr>
              <a:t>: Curve is far above the diagonal, showing strong predictive power across thresholds. </a:t>
            </a:r>
          </a:p>
          <a:p>
            <a:pPr algn="just">
              <a:lnSpc>
                <a:spcPct val="150000"/>
              </a:lnSpc>
            </a:pPr>
            <a:r>
              <a:rPr lang="en-US" sz="1800" b="1" dirty="0">
                <a:effectLst/>
                <a:latin typeface="Times New Roman" panose="02020603050405020304" pitchFamily="18" charset="0"/>
                <a:cs typeface="Times New Roman" panose="02020603050405020304" pitchFamily="18" charset="0"/>
              </a:rPr>
              <a:t>Trade-Off Awareness</a:t>
            </a:r>
            <a:r>
              <a:rPr lang="en-US" sz="1800" dirty="0">
                <a:effectLst/>
                <a:latin typeface="Times New Roman" panose="02020603050405020304" pitchFamily="18" charset="0"/>
                <a:cs typeface="Times New Roman" panose="02020603050405020304" pitchFamily="18" charset="0"/>
              </a:rPr>
              <a:t>: Adjusting thresholds can increase churn recall if business wants to capture more high-risk customers. </a:t>
            </a:r>
          </a:p>
          <a:p>
            <a:pPr algn="just">
              <a:lnSpc>
                <a:spcPct val="150000"/>
              </a:lnSpc>
            </a:pPr>
            <a:r>
              <a:rPr lang="en-US" sz="1800" b="1" dirty="0">
                <a:effectLst/>
                <a:latin typeface="Times New Roman" panose="02020603050405020304" pitchFamily="18" charset="0"/>
                <a:cs typeface="Times New Roman" panose="02020603050405020304" pitchFamily="18" charset="0"/>
              </a:rPr>
              <a:t>Confidence in Predictions</a:t>
            </a:r>
            <a:r>
              <a:rPr lang="en-US" sz="1800" dirty="0">
                <a:effectLst/>
                <a:latin typeface="Times New Roman" panose="02020603050405020304" pitchFamily="18" charset="0"/>
                <a:cs typeface="Times New Roman" panose="02020603050405020304" pitchFamily="18" charset="0"/>
              </a:rPr>
              <a:t>: Model is reliable for ranking customers by churn probability, useful for targeted retention campaigns.</a:t>
            </a:r>
          </a:p>
        </p:txBody>
      </p:sp>
      <p:pic>
        <p:nvPicPr>
          <p:cNvPr id="7" name="Picture 6">
            <a:extLst>
              <a:ext uri="{FF2B5EF4-FFF2-40B4-BE49-F238E27FC236}">
                <a16:creationId xmlns:a16="http://schemas.microsoft.com/office/drawing/2014/main" id="{D1AFB68C-3F7C-C382-9FAE-D6DE246FB16E}"/>
              </a:ext>
            </a:extLst>
          </p:cNvPr>
          <p:cNvPicPr>
            <a:picLocks noChangeAspect="1"/>
          </p:cNvPicPr>
          <p:nvPr/>
        </p:nvPicPr>
        <p:blipFill>
          <a:blip r:embed="rId2"/>
          <a:stretch>
            <a:fillRect/>
          </a:stretch>
        </p:blipFill>
        <p:spPr>
          <a:xfrm>
            <a:off x="6330171" y="1325881"/>
            <a:ext cx="4989399" cy="3395663"/>
          </a:xfrm>
          <a:prstGeom prst="rect">
            <a:avLst/>
          </a:prstGeom>
        </p:spPr>
      </p:pic>
    </p:spTree>
    <p:extLst>
      <p:ext uri="{BB962C8B-B14F-4D97-AF65-F5344CB8AC3E}">
        <p14:creationId xmlns:p14="http://schemas.microsoft.com/office/powerpoint/2010/main" val="18645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6AEF-381F-21C6-96B8-E017A92B2772}"/>
              </a:ext>
            </a:extLst>
          </p:cNvPr>
          <p:cNvSpPr>
            <a:spLocks noGrp="1"/>
          </p:cNvSpPr>
          <p:nvPr>
            <p:ph type="title"/>
          </p:nvPr>
        </p:nvSpPr>
        <p:spPr>
          <a:xfrm>
            <a:off x="913795" y="609601"/>
            <a:ext cx="10353761" cy="721360"/>
          </a:xfrm>
        </p:spPr>
        <p:txBody>
          <a:bodyPr/>
          <a:lstStyle/>
          <a:p>
            <a:pPr algn="l"/>
            <a:r>
              <a:rPr lang="en-IN" dirty="0">
                <a:latin typeface="Times New Roman" panose="02020603050405020304" pitchFamily="18" charset="0"/>
                <a:cs typeface="Times New Roman" panose="02020603050405020304" pitchFamily="18" charset="0"/>
              </a:rPr>
              <a:t>Deployment architecture</a:t>
            </a:r>
          </a:p>
        </p:txBody>
      </p:sp>
      <p:sp>
        <p:nvSpPr>
          <p:cNvPr id="3" name="Content Placeholder 2">
            <a:extLst>
              <a:ext uri="{FF2B5EF4-FFF2-40B4-BE49-F238E27FC236}">
                <a16:creationId xmlns:a16="http://schemas.microsoft.com/office/drawing/2014/main" id="{8F80400D-C51B-172F-12B2-2C2DFCAF12E8}"/>
              </a:ext>
            </a:extLst>
          </p:cNvPr>
          <p:cNvSpPr>
            <a:spLocks noGrp="1"/>
          </p:cNvSpPr>
          <p:nvPr>
            <p:ph idx="1"/>
          </p:nvPr>
        </p:nvSpPr>
        <p:spPr>
          <a:xfrm>
            <a:off x="924444" y="1330961"/>
            <a:ext cx="10353762" cy="2486096"/>
          </a:xfrm>
        </p:spPr>
        <p:txBody>
          <a:bodyPr>
            <a:noAutofit/>
          </a:bodyPr>
          <a:lstStyle/>
          <a:p>
            <a:r>
              <a:rPr lang="en-US" sz="1800"/>
              <a:t>The trained model can be deployed in a production environment.</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7A2FB9-4818-DA48-7943-6EB5C8F5843A}"/>
              </a:ext>
            </a:extLst>
          </p:cNvPr>
          <p:cNvPicPr>
            <a:picLocks noChangeAspect="1"/>
          </p:cNvPicPr>
          <p:nvPr/>
        </p:nvPicPr>
        <p:blipFill>
          <a:blip r:embed="rId2"/>
          <a:srcRect t="9442"/>
          <a:stretch>
            <a:fillRect/>
          </a:stretch>
        </p:blipFill>
        <p:spPr>
          <a:xfrm>
            <a:off x="2780711" y="1815537"/>
            <a:ext cx="6630577" cy="4003040"/>
          </a:xfrm>
          <a:prstGeom prst="rect">
            <a:avLst/>
          </a:prstGeom>
        </p:spPr>
      </p:pic>
    </p:spTree>
    <p:extLst>
      <p:ext uri="{BB962C8B-B14F-4D97-AF65-F5344CB8AC3E}">
        <p14:creationId xmlns:p14="http://schemas.microsoft.com/office/powerpoint/2010/main" val="3142758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088D-A33B-5846-84FD-B33B96361E93}"/>
              </a:ext>
            </a:extLst>
          </p:cNvPr>
          <p:cNvSpPr>
            <a:spLocks noGrp="1"/>
          </p:cNvSpPr>
          <p:nvPr>
            <p:ph type="title"/>
          </p:nvPr>
        </p:nvSpPr>
        <p:spPr>
          <a:xfrm>
            <a:off x="913795" y="609601"/>
            <a:ext cx="10353761" cy="670560"/>
          </a:xfrm>
        </p:spPr>
        <p:txBody>
          <a:bodyPr/>
          <a:lstStyle/>
          <a:p>
            <a:pPr algn="l"/>
            <a:r>
              <a:rPr lang="en-IN" dirty="0">
                <a:latin typeface="Times New Roman" panose="02020603050405020304" pitchFamily="18" charset="0"/>
                <a:cs typeface="Times New Roman" panose="02020603050405020304" pitchFamily="18" charset="0"/>
              </a:rPr>
              <a:t>Business insights</a:t>
            </a:r>
          </a:p>
        </p:txBody>
      </p:sp>
      <p:sp>
        <p:nvSpPr>
          <p:cNvPr id="3" name="Content Placeholder 2">
            <a:extLst>
              <a:ext uri="{FF2B5EF4-FFF2-40B4-BE49-F238E27FC236}">
                <a16:creationId xmlns:a16="http://schemas.microsoft.com/office/drawing/2014/main" id="{1C922C0A-C68C-B84F-8DB4-608638F6ECE6}"/>
              </a:ext>
            </a:extLst>
          </p:cNvPr>
          <p:cNvSpPr>
            <a:spLocks noGrp="1"/>
          </p:cNvSpPr>
          <p:nvPr>
            <p:ph idx="1"/>
          </p:nvPr>
        </p:nvSpPr>
        <p:spPr>
          <a:xfrm>
            <a:off x="924444" y="1201984"/>
            <a:ext cx="10353762" cy="3695136"/>
          </a:xfrm>
        </p:spPr>
        <p:txBody>
          <a:bodyPr>
            <a:normAutofit/>
          </a:bodyPr>
          <a:lstStyle/>
          <a:p>
            <a:pPr>
              <a:lnSpc>
                <a:spcPct val="150000"/>
              </a:lnSpc>
            </a:pPr>
            <a:r>
              <a:rPr lang="en-US" sz="1800" dirty="0">
                <a:effectLst/>
                <a:latin typeface="Times New Roman" panose="02020603050405020304" pitchFamily="18" charset="0"/>
                <a:cs typeface="Times New Roman" panose="02020603050405020304" pitchFamily="18" charset="0"/>
              </a:rPr>
              <a:t>The analysis revealed several important churn patterns.</a:t>
            </a:r>
          </a:p>
          <a:p>
            <a:pPr>
              <a:lnSpc>
                <a:spcPct val="150000"/>
              </a:lnSpc>
            </a:pPr>
            <a:r>
              <a:rPr lang="en-US" sz="1800" b="1" dirty="0">
                <a:effectLst/>
                <a:latin typeface="Times New Roman" panose="02020603050405020304" pitchFamily="18" charset="0"/>
                <a:cs typeface="Times New Roman" panose="02020603050405020304" pitchFamily="18" charset="0"/>
              </a:rPr>
              <a:t>Key Insights</a:t>
            </a:r>
            <a:endParaRPr lang="en-US" sz="1800" dirty="0">
              <a:effectLst/>
              <a:latin typeface="Times New Roman" panose="02020603050405020304" pitchFamily="18" charset="0"/>
              <a:cs typeface="Times New Roman" panose="02020603050405020304" pitchFamily="18" charset="0"/>
            </a:endParaRPr>
          </a:p>
          <a:p>
            <a:pPr marL="687388"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Customers with </a:t>
            </a:r>
            <a:r>
              <a:rPr lang="en-US" sz="1800" b="1" dirty="0">
                <a:effectLst/>
                <a:latin typeface="Times New Roman" panose="02020603050405020304" pitchFamily="18" charset="0"/>
                <a:cs typeface="Times New Roman" panose="02020603050405020304" pitchFamily="18" charset="0"/>
              </a:rPr>
              <a:t>month-to-month contracts churn significantly more</a:t>
            </a:r>
            <a:r>
              <a:rPr lang="en-US" sz="1800" dirty="0">
                <a:effectLst/>
                <a:latin typeface="Times New Roman" panose="02020603050405020304" pitchFamily="18" charset="0"/>
                <a:cs typeface="Times New Roman" panose="02020603050405020304" pitchFamily="18" charset="0"/>
              </a:rPr>
              <a:t> </a:t>
            </a:r>
          </a:p>
          <a:p>
            <a:pPr marL="687388" indent="-285750">
              <a:lnSpc>
                <a:spcPct val="150000"/>
              </a:lnSpc>
              <a:buFont typeface="Wingdings" panose="05000000000000000000" pitchFamily="2" charset="2"/>
              <a:buChar char="Ø"/>
            </a:pPr>
            <a:r>
              <a:rPr lang="en-US" sz="1800" b="1" dirty="0">
                <a:effectLst/>
                <a:latin typeface="Times New Roman" panose="02020603050405020304" pitchFamily="18" charset="0"/>
                <a:cs typeface="Times New Roman" panose="02020603050405020304" pitchFamily="18" charset="0"/>
              </a:rPr>
              <a:t>High monthly charges increase churn risk</a:t>
            </a:r>
            <a:r>
              <a:rPr lang="en-US" sz="1800" dirty="0">
                <a:effectLst/>
                <a:latin typeface="Times New Roman" panose="02020603050405020304" pitchFamily="18" charset="0"/>
                <a:cs typeface="Times New Roman" panose="02020603050405020304" pitchFamily="18" charset="0"/>
              </a:rPr>
              <a:t> </a:t>
            </a:r>
          </a:p>
          <a:p>
            <a:pPr marL="687388"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Customers with </a:t>
            </a:r>
            <a:r>
              <a:rPr lang="en-US" sz="1800" b="1" dirty="0">
                <a:effectLst/>
                <a:latin typeface="Times New Roman" panose="02020603050405020304" pitchFamily="18" charset="0"/>
                <a:cs typeface="Times New Roman" panose="02020603050405020304" pitchFamily="18" charset="0"/>
              </a:rPr>
              <a:t>short tenure are more likely to leave</a:t>
            </a:r>
            <a:r>
              <a:rPr lang="en-US" sz="1800" dirty="0">
                <a:effectLst/>
                <a:latin typeface="Times New Roman" panose="02020603050405020304" pitchFamily="18" charset="0"/>
                <a:cs typeface="Times New Roman" panose="02020603050405020304" pitchFamily="18" charset="0"/>
              </a:rPr>
              <a:t> </a:t>
            </a:r>
          </a:p>
          <a:p>
            <a:pPr marL="687388"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Long-term customers demonstrate strong loyalty </a:t>
            </a:r>
          </a:p>
          <a:p>
            <a:pPr>
              <a:lnSpc>
                <a:spcPct val="150000"/>
              </a:lnSpc>
            </a:pPr>
            <a:r>
              <a:rPr lang="en-US" sz="1800" dirty="0">
                <a:effectLst/>
                <a:latin typeface="Times New Roman" panose="02020603050405020304" pitchFamily="18" charset="0"/>
                <a:cs typeface="Times New Roman" panose="02020603050405020304" pitchFamily="18" charset="0"/>
              </a:rPr>
              <a:t>The model also identified </a:t>
            </a:r>
            <a:r>
              <a:rPr lang="en-US" sz="1800" b="1" dirty="0">
                <a:effectLst/>
                <a:latin typeface="Times New Roman" panose="02020603050405020304" pitchFamily="18" charset="0"/>
                <a:cs typeface="Times New Roman" panose="02020603050405020304" pitchFamily="18" charset="0"/>
              </a:rPr>
              <a:t>high-risk customers with churn probability above 80%</a:t>
            </a:r>
            <a:endParaRPr lang="en-US"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3957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6635-E129-CA87-DA95-6840B7C581DC}"/>
              </a:ext>
            </a:extLst>
          </p:cNvPr>
          <p:cNvSpPr>
            <a:spLocks noGrp="1"/>
          </p:cNvSpPr>
          <p:nvPr>
            <p:ph type="title"/>
          </p:nvPr>
        </p:nvSpPr>
        <p:spPr>
          <a:xfrm>
            <a:off x="913795" y="609601"/>
            <a:ext cx="10353761" cy="731520"/>
          </a:xfrm>
        </p:spPr>
        <p:txBody>
          <a:bodyPr/>
          <a:lstStyle/>
          <a:p>
            <a:pPr algn="l"/>
            <a:r>
              <a:rPr lang="en-IN"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BB28538D-8F88-EA01-5941-B839BF82CD8E}"/>
              </a:ext>
            </a:extLst>
          </p:cNvPr>
          <p:cNvSpPr>
            <a:spLocks noGrp="1"/>
          </p:cNvSpPr>
          <p:nvPr>
            <p:ph idx="1"/>
          </p:nvPr>
        </p:nvSpPr>
        <p:spPr>
          <a:xfrm>
            <a:off x="924444" y="1341121"/>
            <a:ext cx="10353762" cy="3695136"/>
          </a:xfrm>
        </p:spPr>
        <p:txBody>
          <a:bodyPr>
            <a:normAutofit/>
          </a:bodyPr>
          <a:lstStyle/>
          <a:p>
            <a:pPr>
              <a:lnSpc>
                <a:spcPct val="150000"/>
              </a:lnSpc>
            </a:pPr>
            <a:r>
              <a:rPr lang="en-US" sz="1800" dirty="0">
                <a:effectLst/>
                <a:latin typeface="Times New Roman" panose="02020603050405020304" pitchFamily="18" charset="0"/>
                <a:cs typeface="Times New Roman" panose="02020603050405020304" pitchFamily="18" charset="0"/>
              </a:rPr>
              <a:t>Based on the analysis and model results, the following strategies are recommended:</a:t>
            </a:r>
          </a:p>
          <a:p>
            <a:pPr>
              <a:lnSpc>
                <a:spcPct val="150000"/>
              </a:lnSpc>
            </a:pPr>
            <a:r>
              <a:rPr lang="en-US" sz="1800" dirty="0">
                <a:effectLst/>
                <a:latin typeface="Times New Roman" panose="02020603050405020304" pitchFamily="18" charset="0"/>
                <a:cs typeface="Times New Roman" panose="02020603050405020304" pitchFamily="18" charset="0"/>
              </a:rPr>
              <a:t>Customer Retention Strategies</a:t>
            </a:r>
          </a:p>
          <a:p>
            <a:pPr marL="777875"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Encourage customers to switch to long-term contracts </a:t>
            </a:r>
          </a:p>
          <a:p>
            <a:pPr marL="777875"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Provide discounts for high monthly charge customers </a:t>
            </a:r>
          </a:p>
          <a:p>
            <a:pPr marL="777875"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Implement early engagement programs for new customers </a:t>
            </a:r>
          </a:p>
          <a:p>
            <a:pPr marL="777875" indent="-285750">
              <a:lnSpc>
                <a:spcPct val="150000"/>
              </a:lnSpc>
              <a:buFont typeface="Wingdings" panose="05000000000000000000" pitchFamily="2" charset="2"/>
              <a:buChar char="Ø"/>
            </a:pPr>
            <a:r>
              <a:rPr lang="en-US" sz="1800" dirty="0">
                <a:effectLst/>
                <a:latin typeface="Times New Roman" panose="02020603050405020304" pitchFamily="18" charset="0"/>
                <a:cs typeface="Times New Roman" panose="02020603050405020304" pitchFamily="18" charset="0"/>
              </a:rPr>
              <a:t>Target high-risk customers with personalized retention offers </a:t>
            </a:r>
          </a:p>
          <a:p>
            <a:pPr>
              <a:lnSpc>
                <a:spcPct val="150000"/>
              </a:lnSpc>
            </a:pPr>
            <a:r>
              <a:rPr lang="en-US" sz="1800" dirty="0">
                <a:effectLst/>
                <a:latin typeface="Times New Roman" panose="02020603050405020304" pitchFamily="18" charset="0"/>
                <a:cs typeface="Times New Roman" panose="02020603050405020304" pitchFamily="18" charset="0"/>
              </a:rPr>
              <a:t>Using predictive analytics enables telecom companies to reduce churn and improve customer retention.</a:t>
            </a:r>
          </a:p>
        </p:txBody>
      </p:sp>
    </p:spTree>
    <p:extLst>
      <p:ext uri="{BB962C8B-B14F-4D97-AF65-F5344CB8AC3E}">
        <p14:creationId xmlns:p14="http://schemas.microsoft.com/office/powerpoint/2010/main" val="2155790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FEE20-6642-2627-C266-84FF7F492E54}"/>
              </a:ext>
            </a:extLst>
          </p:cNvPr>
          <p:cNvSpPr>
            <a:spLocks noGrp="1"/>
          </p:cNvSpPr>
          <p:nvPr>
            <p:ph type="title"/>
          </p:nvPr>
        </p:nvSpPr>
        <p:spPr>
          <a:xfrm>
            <a:off x="913795" y="609601"/>
            <a:ext cx="10353761" cy="619760"/>
          </a:xfrm>
        </p:spPr>
        <p:txBody>
          <a:bodyPr/>
          <a:lstStyle/>
          <a:p>
            <a:pPr algn="l"/>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6074D78-061C-5FCB-4696-D48E248CC3C3}"/>
              </a:ext>
            </a:extLst>
          </p:cNvPr>
          <p:cNvSpPr>
            <a:spLocks noGrp="1"/>
          </p:cNvSpPr>
          <p:nvPr>
            <p:ph idx="1"/>
          </p:nvPr>
        </p:nvSpPr>
        <p:spPr>
          <a:xfrm>
            <a:off x="1045875" y="1313744"/>
            <a:ext cx="10353762" cy="3695136"/>
          </a:xfrm>
        </p:spPr>
        <p:txBody>
          <a:bodyPr>
            <a:normAutofit/>
          </a:bodyPr>
          <a:lstStyle/>
          <a:p>
            <a:pPr marL="0" indent="0" algn="just">
              <a:lnSpc>
                <a:spcPct val="150000"/>
              </a:lnSpc>
              <a:buNone/>
            </a:pPr>
            <a:r>
              <a:rPr lang="en-US" sz="1800" dirty="0">
                <a:effectLst/>
                <a:latin typeface="Times New Roman" panose="02020603050405020304" pitchFamily="18" charset="0"/>
                <a:cs typeface="Times New Roman" panose="02020603050405020304" pitchFamily="18" charset="0"/>
              </a:rPr>
              <a:t>The Customer Churn Prediction project demonstrates a complete end-to-end data science workflow, from data exploration and feature engineering to model development, evaluation, and deployment. The Random Forest model achieved strong predictive performance with 96% accuracy and 0.99 ROC-AUC, effectively identifying high-risk customers. Key insights revealed that short-tenure and month-to-month contract customers with higher monthly charges are most likely to churn. These findings enable telecom companies to implement targeted retention strategies, such as incentivizing long-term contracts, engaging new customers early, and offering personalized retention campaigns, ultimately improving customer loyalty and reducing churn.</a:t>
            </a:r>
            <a:endParaRPr lang="en-IN"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63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5267C-3D7C-C753-8D62-18A73459A018}"/>
              </a:ext>
            </a:extLst>
          </p:cNvPr>
          <p:cNvSpPr>
            <a:spLocks noGrp="1"/>
          </p:cNvSpPr>
          <p:nvPr>
            <p:ph type="title"/>
          </p:nvPr>
        </p:nvSpPr>
        <p:spPr>
          <a:xfrm>
            <a:off x="919119" y="2590800"/>
            <a:ext cx="10353761" cy="1326321"/>
          </a:xfrm>
        </p:spPr>
        <p:txBody>
          <a:bodyPr>
            <a:normAutofit/>
          </a:bodyPr>
          <a:lstStyle/>
          <a:p>
            <a:r>
              <a:rPr lang="en-IN" sz="4400" i="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6333321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330</TotalTime>
  <Words>1089</Words>
  <Application>Microsoft Office PowerPoint</Application>
  <PresentationFormat>Widescreen</PresentationFormat>
  <Paragraphs>134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Bookman Old Style</vt:lpstr>
      <vt:lpstr>Rockwell</vt:lpstr>
      <vt:lpstr>Times New Roman</vt:lpstr>
      <vt:lpstr>Wingdings</vt:lpstr>
      <vt:lpstr>Damask</vt:lpstr>
      <vt:lpstr>Capstone project</vt:lpstr>
      <vt:lpstr>Business problems</vt:lpstr>
      <vt:lpstr>Problem statement</vt:lpstr>
      <vt:lpstr>Project objectives</vt:lpstr>
      <vt:lpstr>Business impact</vt:lpstr>
      <vt:lpstr>Dataset overview</vt:lpstr>
      <vt:lpstr>EDA – Churn Distribution</vt:lpstr>
      <vt:lpstr>EDA – Tenure vs Churn</vt:lpstr>
      <vt:lpstr>EDA – Contract Type Impact</vt:lpstr>
      <vt:lpstr>EDA – Monthly Charges Impact</vt:lpstr>
      <vt:lpstr>EDA – Monthly Charges Impact</vt:lpstr>
      <vt:lpstr>Feature engineering</vt:lpstr>
      <vt:lpstr>Model development</vt:lpstr>
      <vt:lpstr>Model performance</vt:lpstr>
      <vt:lpstr>Model Performance</vt:lpstr>
      <vt:lpstr>PowerPoint Presentation</vt:lpstr>
      <vt:lpstr>Deployment architecture</vt:lpstr>
      <vt:lpstr>Business insights</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Dhanashree Tankar</dc:creator>
  <cp:lastModifiedBy>Dhanashree Tankar</cp:lastModifiedBy>
  <cp:revision>14</cp:revision>
  <dcterms:created xsi:type="dcterms:W3CDTF">2026-02-28T09:28:33Z</dcterms:created>
  <dcterms:modified xsi:type="dcterms:W3CDTF">2026-04-03T10:11:49Z</dcterms:modified>
</cp:coreProperties>
</file>